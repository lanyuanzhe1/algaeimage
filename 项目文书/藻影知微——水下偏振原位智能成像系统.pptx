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79" r:id="rId8"/>
    <p:sldId id="259" r:id="rId9"/>
    <p:sldId id="261" r:id="rId10"/>
    <p:sldId id="262" r:id="rId11"/>
    <p:sldId id="263" r:id="rId12"/>
    <p:sldId id="264" r:id="rId13"/>
    <p:sldId id="265" r:id="rId14"/>
    <p:sldId id="266" r:id="rId15"/>
    <p:sldId id="278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6256000" cy="9144000"/>
  <p:notesSz cx="9144000" cy="16256000"/>
  <p:embeddedFontLst>
    <p:embeddedFont>
      <p:font typeface="Liter" panose="02000503030000020004" pitchFamily="34" charset="0"/>
      <p:regular r:id="rId31"/>
    </p:embeddedFont>
    <p:embeddedFont>
      <p:font typeface="Liter" panose="02000503030000020004" pitchFamily="34" charset="-122"/>
      <p:regular r:id="rId32"/>
    </p:embeddedFont>
    <p:embeddedFont>
      <p:font typeface="Liter" panose="02000503030000020004" pitchFamily="34" charset="-120"/>
      <p:regular r:id="rId33"/>
    </p:embeddedFont>
    <p:embeddedFont>
      <p:font typeface="Calibri" panose="020F0502020204030204" charset="0"/>
      <p:regular r:id="rId34"/>
      <p:bold r:id="rId35"/>
      <p:italic r:id="rId36"/>
      <p:boldItalic r:id="rId37"/>
    </p:embeddedFont>
    <p:embeddedFont>
      <p:font typeface="微软雅黑" panose="020B0503020204020204" charset="-122"/>
      <p:regular r:id="rId38"/>
    </p:embeddedFont>
    <p:embeddedFont>
      <p:font typeface="等线" panose="02010600030101010101" charset="-122"/>
      <p:regular r:id="rId39"/>
    </p:embeddedFont>
    <p:embeddedFont>
      <p:font typeface="Leelawadee UI Semilight" panose="020B0402040204020203" pitchFamily="34" charset="-34"/>
      <p:regular r:id="rId4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0" Type="http://schemas.openxmlformats.org/officeDocument/2006/relationships/font" Target="fonts/font10.fntdata"/><Relationship Id="rId4" Type="http://schemas.openxmlformats.org/officeDocument/2006/relationships/slide" Target="slides/slide1.xml"/><Relationship Id="rId39" Type="http://schemas.openxmlformats.org/officeDocument/2006/relationships/font" Target="fonts/font9.fntdata"/><Relationship Id="rId38" Type="http://schemas.openxmlformats.org/officeDocument/2006/relationships/font" Target="fonts/font8.fntdata"/><Relationship Id="rId37" Type="http://schemas.openxmlformats.org/officeDocument/2006/relationships/font" Target="fonts/font7.fntdata"/><Relationship Id="rId36" Type="http://schemas.openxmlformats.org/officeDocument/2006/relationships/font" Target="fonts/font6.fntdata"/><Relationship Id="rId35" Type="http://schemas.openxmlformats.org/officeDocument/2006/relationships/font" Target="fonts/font5.fntdata"/><Relationship Id="rId34" Type="http://schemas.openxmlformats.org/officeDocument/2006/relationships/font" Target="fonts/font4.fntdata"/><Relationship Id="rId33" Type="http://schemas.openxmlformats.org/officeDocument/2006/relationships/font" Target="fonts/font3.fntdata"/><Relationship Id="rId32" Type="http://schemas.openxmlformats.org/officeDocument/2006/relationships/font" Target="fonts/font2.fntdata"/><Relationship Id="rId31" Type="http://schemas.openxmlformats.org/officeDocument/2006/relationships/font" Target="fonts/font1.fntdata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营业收入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第一年</c:v>
                </c:pt>
                <c:pt idx="1">
                  <c:v>第二年</c:v>
                </c:pt>
                <c:pt idx="2">
                  <c:v>第三年</c:v>
                </c:pt>
                <c:pt idx="3">
                  <c:v>第四年</c:v>
                </c:pt>
                <c:pt idx="4">
                  <c:v>第五年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200</c:v>
                </c:pt>
                <c:pt idx="2">
                  <c:v>380</c:v>
                </c:pt>
                <c:pt idx="3">
                  <c:v>580</c:v>
                </c:pt>
                <c:pt idx="4">
                  <c:v>780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0"/>
        <c:axId val="2094734554"/>
        <c:axId val="2094734552"/>
      </c:barChart>
      <c:lineChart>
        <c:grouping val="none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营业成本</c:v>
                </c:pt>
              </c:strCache>
            </c:strRef>
          </c:tx>
          <c:spPr>
            <a:ln w="25400" cap="flat" cmpd="sng" algn="ctr">
              <a:solidFill>
                <a:srgbClr val="3A7CA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A7CA5"/>
              </a:solidFill>
              <a:ln w="9525" cap="flat" cmpd="sng" algn="ctr">
                <a:solidFill>
                  <a:srgbClr val="3A7CA5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第一年</c:v>
                </c:pt>
                <c:pt idx="1">
                  <c:v>第二年</c:v>
                </c:pt>
                <c:pt idx="2">
                  <c:v>第三年</c:v>
                </c:pt>
                <c:pt idx="3">
                  <c:v>第四年</c:v>
                </c:pt>
                <c:pt idx="4">
                  <c:v>第五年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130</c:v>
                </c:pt>
                <c:pt idx="1">
                  <c:v>190</c:v>
                </c:pt>
                <c:pt idx="2">
                  <c:v>260</c:v>
                </c:pt>
                <c:pt idx="3">
                  <c:v>340</c:v>
                </c:pt>
                <c:pt idx="4">
                  <c:v>400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3A7CA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3A7CA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3A7CA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0F1B2D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c242a4d-3f3e-4df1-906f-c342811cb492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image" Target="../media/image24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hl54qt7z4deq/mnt/agents/output/zaoyingzhiwei/images/bg_reference.png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71A33">
                  <a:alpha val="94000"/>
                </a:srgbClr>
              </a:gs>
              <a:gs pos="50000">
                <a:srgbClr val="071A33">
                  <a:alpha val="69000"/>
                </a:srgbClr>
              </a:gs>
              <a:gs pos="100000">
                <a:srgbClr val="071A33">
                  <a:alpha val="25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1016000" y="2921000"/>
            <a:ext cx="762000" cy="5080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5" name="Text 2"/>
          <p:cNvSpPr/>
          <p:nvPr/>
        </p:nvSpPr>
        <p:spPr>
          <a:xfrm>
            <a:off x="1016000" y="3175000"/>
            <a:ext cx="889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4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藻影知微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016000" y="4064000"/>
            <a:ext cx="889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水下偏振原位智能成像系统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826000"/>
            <a:ext cx="7620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6902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第十四届全国大学生光电设计竞赛（华北区赛）· 创意组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76200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藻影知微队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16000" y="8077200"/>
            <a:ext cx="635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看得清 · 识得准 · 预警早 · 用得起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0" cy="9144000"/>
          </a:xfrm>
          <a:prstGeom prst="rect">
            <a:avLst/>
          </a:prstGeom>
          <a:solidFill>
            <a:srgbClr val="0B2D5B"/>
          </a:solidFill>
        </p:spPr>
      </p:sp>
      <p:sp>
        <p:nvSpPr>
          <p:cNvPr id="3" name="Text 1"/>
          <p:cNvSpPr/>
          <p:nvPr/>
        </p:nvSpPr>
        <p:spPr>
          <a:xfrm>
            <a:off x="762000" y="22860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kern="0" spc="4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2794000"/>
            <a:ext cx="381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3810000"/>
            <a:ext cx="635000" cy="5080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6" name="Text 4"/>
          <p:cNvSpPr/>
          <p:nvPr/>
        </p:nvSpPr>
        <p:spPr>
          <a:xfrm>
            <a:off x="6096000" y="1778000"/>
            <a:ext cx="889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85000" y="17780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项目背景与市场机遇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85000" y="2222500"/>
            <a:ext cx="8128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有害藻华监测的行业痛点、市场规模与目标用户分析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0" y="3048000"/>
            <a:ext cx="9144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6096000" y="3429000"/>
            <a:ext cx="889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85000" y="34290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产品与技术方案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85000" y="3873500"/>
            <a:ext cx="8128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偏振显微成像、RDN增强、YOLO识别与软件平台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6000" y="4699000"/>
            <a:ext cx="9144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6096000" y="5080000"/>
            <a:ext cx="889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85000" y="50800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竞争优势与商业模式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85000" y="5524500"/>
            <a:ext cx="8128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竞品对比分析、产品分层定价与复合商业模式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96000" y="6350000"/>
            <a:ext cx="9144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6096000" y="6731000"/>
            <a:ext cx="889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85000" y="67310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团队与财务规划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85000" y="7175500"/>
            <a:ext cx="8128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复合型人才团队、五年财务预测与社会效益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hl54qt7z4deq/mnt/agents/output/zaoyingzhiwei/images/bg_reference.png"/>
          <p:cNvPicPr>
            <a:picLocks noChangeAspect="1"/>
          </p:cNvPicPr>
          <p:nvPr/>
        </p:nvPicPr>
        <p:blipFill>
          <a:blip r:embed="rId1"/>
          <a:srcRect l="30000" b="30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71A33">
                  <a:alpha val="91000"/>
                </a:srgbClr>
              </a:gs>
              <a:gs pos="55000">
                <a:srgbClr val="071A33">
                  <a:alpha val="82000"/>
                </a:srgbClr>
              </a:gs>
              <a:gs pos="100000">
                <a:srgbClr val="071A33">
                  <a:alpha val="38000"/>
                </a:srgbClr>
              </a:gs>
            </a:gsLst>
            <a:lin ang="0" scaled="1"/>
          </a:gradFill>
        </p:spPr>
      </p:sp>
      <p:sp>
        <p:nvSpPr>
          <p:cNvPr id="4" name="Text 1"/>
          <p:cNvSpPr/>
          <p:nvPr/>
        </p:nvSpPr>
        <p:spPr>
          <a:xfrm>
            <a:off x="1270000" y="2794000"/>
            <a:ext cx="2540000" cy="1143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70000" y="4064000"/>
            <a:ext cx="762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项目背景与市场机遇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70000" y="48260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56471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面向有害藻华早期发现与现场监测的迫切需求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270000" y="3937000"/>
            <a:ext cx="635000" cy="50800"/>
          </a:xfrm>
          <a:prstGeom prst="rect">
            <a:avLst/>
          </a:prstGeom>
          <a:solidFill>
            <a:srgbClr val="00C9A7"/>
          </a:solidFill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 项目背景与市场机遇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270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3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行业背景</a:t>
            </a:r>
            <a:r>
              <a:rPr lang="en-US" sz="3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</a:t>
            </a:r>
            <a:r>
              <a:rPr lang="en-US" altLang="zh-CN" sz="3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</a:t>
            </a:r>
            <a:r>
              <a:rPr lang="en-US" altLang="zh-CN" sz="3000" dirty="0" err="1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水质监测行业持续扩容</a:t>
            </a:r>
            <a:r>
              <a:rPr lang="zh-CN" altLang="en-US" sz="3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，国家政策大力支持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10922000" y="1650999"/>
            <a:ext cx="4572000" cy="5425663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B2D5B">
                <a:alpha val="7059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176000" y="1803400"/>
            <a:ext cx="4064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52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市场需要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1176000" y="2667000"/>
            <a:ext cx="4064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0F1B2D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近几年中国水质检测市场规模</a:t>
            </a:r>
            <a:r>
              <a:rPr lang="zh-CN" altLang="en-US" b="1" dirty="0">
                <a:solidFill>
                  <a:srgbClr val="0F1B2D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稳步增长</a:t>
            </a:r>
            <a:r>
              <a:rPr lang="zh-CN" altLang="en-US" sz="1500" dirty="0">
                <a:solidFill>
                  <a:srgbClr val="0F1B2D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，预计在</a:t>
            </a:r>
            <a:r>
              <a:rPr lang="en-US" altLang="zh-CN" sz="1500" dirty="0">
                <a:solidFill>
                  <a:srgbClr val="0F1B2D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2028</a:t>
            </a:r>
            <a:r>
              <a:rPr lang="zh-CN" altLang="en-US" sz="1500" dirty="0">
                <a:solidFill>
                  <a:srgbClr val="0F1B2D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年可以达到</a:t>
            </a:r>
            <a:r>
              <a:rPr lang="en-US" altLang="zh-CN" b="1" dirty="0">
                <a:solidFill>
                  <a:srgbClr val="0F1B2D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84</a:t>
            </a:r>
            <a:r>
              <a:rPr lang="zh-CN" altLang="en-US" b="1" dirty="0">
                <a:solidFill>
                  <a:srgbClr val="0F1B2D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亿元</a:t>
            </a:r>
            <a:endParaRPr lang="en-US" sz="1600" b="1" dirty="0">
              <a:latin typeface="Leelawadee UI Semilight" panose="020B0402040204020203" pitchFamily="34" charset="-34"/>
              <a:cs typeface="Leelawadee UI Semilight" panose="020B0402040204020203" pitchFamily="34" charset="-3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69000" y="1651001"/>
            <a:ext cx="4572000" cy="5425661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B2D5B">
                <a:alpha val="7059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Text 7"/>
          <p:cNvSpPr/>
          <p:nvPr/>
        </p:nvSpPr>
        <p:spPr>
          <a:xfrm>
            <a:off x="6223000" y="1803403"/>
            <a:ext cx="4064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223000" y="2667003"/>
            <a:ext cx="4064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政策明确强化</a:t>
            </a:r>
            <a:r>
              <a:rPr lang="zh-CN" altLang="en-US" b="1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水生态监测体系</a:t>
            </a:r>
            <a:r>
              <a:rPr lang="zh-CN" altLang="en-US" sz="15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建设，推动</a:t>
            </a:r>
            <a:r>
              <a:rPr lang="zh-CN" altLang="en-US" b="1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蓝藻水华预警</a:t>
            </a:r>
            <a:r>
              <a:rPr lang="zh-CN" altLang="en-US" sz="15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与智能监管升级。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1651001"/>
            <a:ext cx="4826000" cy="542566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B2D5B">
                <a:alpha val="7059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16000" y="1803401"/>
            <a:ext cx="4318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5200" dirty="0">
                <a:solidFill>
                  <a:srgbClr val="00C9A7"/>
                </a:solidFill>
                <a:latin typeface="Liter" panose="02000503030000020004" pitchFamily="34" charset="0"/>
              </a:rPr>
              <a:t>危害巨大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1016000" y="2667001"/>
            <a:ext cx="4318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有害藻华会破坏水体生态、产生毒素，危害水生生物与人体健康，还影响生产生活。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7884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14732000" y="88392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4"/>
          <p:cNvSpPr/>
          <p:nvPr/>
        </p:nvSpPr>
        <p:spPr>
          <a:xfrm>
            <a:off x="6184900" y="1803403"/>
            <a:ext cx="4064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5200" dirty="0">
                <a:solidFill>
                  <a:srgbClr val="00C9A7"/>
                </a:solidFill>
                <a:latin typeface="Liter" panose="02000503030000020004" pitchFamily="34" charset="0"/>
              </a:rPr>
              <a:t>政策支持</a:t>
            </a:r>
            <a:endParaRPr lang="en-US" sz="5200" dirty="0"/>
          </a:p>
        </p:txBody>
      </p:sp>
      <p:pic>
        <p:nvPicPr>
          <p:cNvPr id="1026" name="Picture 2" descr="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960" y="3632311"/>
            <a:ext cx="4474080" cy="335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8161" y="3628115"/>
            <a:ext cx="4479677" cy="3359757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860" y="3632312"/>
            <a:ext cx="4476281" cy="275578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 项目背景与市场机遇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行业痛点：微藻监测"</a:t>
            </a:r>
            <a:r>
              <a:rPr lang="en-US" sz="3200" b="1" dirty="0">
                <a:solidFill>
                  <a:srgbClr val="FF00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看不清、识不准、用不起</a:t>
            </a:r>
            <a:r>
              <a:rPr lang="en-US" sz="3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grpSp>
        <p:nvGrpSpPr>
          <p:cNvPr id="22" name="组合 21"/>
          <p:cNvGrpSpPr/>
          <p:nvPr/>
        </p:nvGrpSpPr>
        <p:grpSpPr>
          <a:xfrm>
            <a:off x="762000" y="1775460"/>
            <a:ext cx="4648200" cy="5086985"/>
            <a:chOff x="1200" y="3646"/>
            <a:chExt cx="7320" cy="8011"/>
          </a:xfrm>
        </p:grpSpPr>
        <p:sp>
          <p:nvSpPr>
            <p:cNvPr id="5" name="Shape 3"/>
            <p:cNvSpPr/>
            <p:nvPr/>
          </p:nvSpPr>
          <p:spPr>
            <a:xfrm>
              <a:off x="1200" y="3646"/>
              <a:ext cx="7320" cy="8011"/>
            </a:xfrm>
            <a:prstGeom prst="rect">
              <a:avLst/>
            </a:prstGeom>
            <a:solidFill>
              <a:srgbClr val="FFFFFF"/>
            </a:solidFill>
            <a:effectLst>
              <a:outerShdw blurRad="152400" dist="50800" dir="5400000" algn="bl" rotWithShape="0">
                <a:srgbClr val="0B2D5B">
                  <a:alpha val="8235"/>
                </a:srgbClr>
              </a:outerShdw>
            </a:effectLst>
          </p:spPr>
        </p:sp>
        <p:sp>
          <p:nvSpPr>
            <p:cNvPr id="7" name="Text 5"/>
            <p:cNvSpPr/>
            <p:nvPr/>
          </p:nvSpPr>
          <p:spPr>
            <a:xfrm>
              <a:off x="1680" y="4000"/>
              <a:ext cx="6360" cy="56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000" dirty="0">
                  <a:solidFill>
                    <a:srgbClr val="0B2D5B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人工镜检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680" y="4559"/>
              <a:ext cx="6360" cy="30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>
                <a:lnSpc>
                  <a:spcPct val="160000"/>
                </a:lnSpc>
              </a:pPr>
              <a:r>
                <a:rPr lang="en-US" sz="2000" b="1" dirty="0">
                  <a:solidFill>
                    <a:srgbClr val="FF0000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采样慢、周期长、难连续</a:t>
              </a:r>
              <a:endParaRPr lang="en-US" sz="1600" dirty="0">
                <a:solidFill>
                  <a:srgbClr val="FF0000"/>
                </a:solidFill>
              </a:endParaRPr>
            </a:p>
            <a:p>
              <a:pPr>
                <a:lnSpc>
                  <a:spcPct val="160000"/>
                </a:lnSpc>
                <a:spcBef>
                  <a:spcPts val="800"/>
                </a:spcBef>
              </a:pPr>
              <a:r>
                <a:rPr lang="en-US" sz="1600" dirty="0">
                  <a:solidFill>
                    <a:srgbClr val="0F1B2D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依赖专业人员现场采样，送回实验室镜检分析，单次检测周期长达数天，无法实现连续监测，藻华爆发时往往滞后应对。</a:t>
              </a:r>
              <a:endParaRPr lang="en-US" sz="1600" dirty="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5791200" y="1775460"/>
            <a:ext cx="4648200" cy="5083810"/>
            <a:chOff x="9120" y="3647"/>
            <a:chExt cx="7320" cy="8006"/>
          </a:xfrm>
        </p:grpSpPr>
        <p:sp>
          <p:nvSpPr>
            <p:cNvPr id="9" name="Shape 7"/>
            <p:cNvSpPr/>
            <p:nvPr/>
          </p:nvSpPr>
          <p:spPr>
            <a:xfrm>
              <a:off x="9120" y="3647"/>
              <a:ext cx="7320" cy="8006"/>
            </a:xfrm>
            <a:prstGeom prst="rect">
              <a:avLst/>
            </a:prstGeom>
            <a:solidFill>
              <a:srgbClr val="FFFFFF"/>
            </a:solidFill>
            <a:effectLst>
              <a:outerShdw blurRad="152400" dist="50800" dir="5400000" algn="bl" rotWithShape="0">
                <a:srgbClr val="0B2D5B">
                  <a:alpha val="8235"/>
                </a:srgbClr>
              </a:outerShdw>
            </a:effectLst>
          </p:spPr>
        </p:sp>
        <p:sp>
          <p:nvSpPr>
            <p:cNvPr id="11" name="Text 9"/>
            <p:cNvSpPr/>
            <p:nvPr/>
          </p:nvSpPr>
          <p:spPr>
            <a:xfrm>
              <a:off x="9600" y="4000"/>
              <a:ext cx="6360" cy="56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000" dirty="0">
                  <a:solidFill>
                    <a:srgbClr val="0B2D5B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常规传感器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9600" y="4561"/>
              <a:ext cx="6360" cy="30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>
                <a:lnSpc>
                  <a:spcPct val="160000"/>
                </a:lnSpc>
              </a:pPr>
              <a:r>
                <a:rPr lang="en-US" sz="2000" b="1" dirty="0">
                  <a:solidFill>
                    <a:srgbClr val="FF0000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只能测参数、不能看藻种</a:t>
              </a:r>
              <a:endParaRPr lang="en-US" sz="1600" dirty="0"/>
            </a:p>
            <a:p>
              <a:pPr>
                <a:lnSpc>
                  <a:spcPct val="160000"/>
                </a:lnSpc>
                <a:spcBef>
                  <a:spcPts val="800"/>
                </a:spcBef>
              </a:pPr>
              <a:r>
                <a:rPr lang="en-US" sz="1600" dirty="0">
                  <a:solidFill>
                    <a:srgbClr val="0F1B2D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可检测叶绿素、浊度等水质参数，但无法识别具体藻种类别和数量，难以区分有害藻华与无害藻类增殖。</a:t>
              </a:r>
              <a:endParaRPr lang="en-US" sz="1600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0820400" y="1775460"/>
            <a:ext cx="4648200" cy="5063545"/>
            <a:chOff x="17040" y="3647"/>
            <a:chExt cx="7320" cy="7978"/>
          </a:xfrm>
        </p:grpSpPr>
        <p:sp>
          <p:nvSpPr>
            <p:cNvPr id="13" name="Shape 11"/>
            <p:cNvSpPr/>
            <p:nvPr/>
          </p:nvSpPr>
          <p:spPr>
            <a:xfrm>
              <a:off x="17040" y="3647"/>
              <a:ext cx="7320" cy="7978"/>
            </a:xfrm>
            <a:prstGeom prst="rect">
              <a:avLst/>
            </a:prstGeom>
            <a:solidFill>
              <a:srgbClr val="FFFFFF"/>
            </a:solidFill>
            <a:effectLst>
              <a:outerShdw blurRad="152400" dist="50800" dir="5400000" algn="bl" rotWithShape="0">
                <a:srgbClr val="0B2D5B">
                  <a:alpha val="8235"/>
                </a:srgbClr>
              </a:outerShdw>
            </a:effectLst>
          </p:spPr>
        </p:sp>
        <p:sp>
          <p:nvSpPr>
            <p:cNvPr id="15" name="Text 13"/>
            <p:cNvSpPr/>
            <p:nvPr/>
          </p:nvSpPr>
          <p:spPr>
            <a:xfrm>
              <a:off x="17520" y="4000"/>
              <a:ext cx="6360" cy="56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000" dirty="0">
                  <a:solidFill>
                    <a:srgbClr val="0B2D5B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高端进口设备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7520" y="4563"/>
              <a:ext cx="6360" cy="3000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>
                <a:lnSpc>
                  <a:spcPct val="160000"/>
                </a:lnSpc>
              </a:pPr>
              <a:r>
                <a:rPr lang="en-US" sz="2000" b="1" dirty="0">
                  <a:solidFill>
                    <a:srgbClr val="FF0000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价格高、部署门槛高</a:t>
              </a:r>
              <a:endParaRPr lang="en-US" sz="2000" dirty="0">
                <a:solidFill>
                  <a:srgbClr val="FF0000"/>
                </a:solidFill>
              </a:endParaRPr>
            </a:p>
            <a:p>
              <a:pPr>
                <a:lnSpc>
                  <a:spcPct val="160000"/>
                </a:lnSpc>
                <a:spcBef>
                  <a:spcPts val="800"/>
                </a:spcBef>
              </a:pPr>
              <a:r>
                <a:rPr lang="en-US" sz="1600" dirty="0">
                  <a:solidFill>
                    <a:srgbClr val="0F1B2D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进口浮游生物成像仪单价数十万至上百万元，需要专业运维团队，基层监测站和中小型养殖场难以承担。</a:t>
              </a:r>
              <a:endParaRPr lang="en-US" sz="1600" dirty="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62000" y="7204075"/>
            <a:ext cx="14732000" cy="1270000"/>
            <a:chOff x="1200" y="8800"/>
            <a:chExt cx="23200" cy="2000"/>
          </a:xfrm>
        </p:grpSpPr>
        <p:sp>
          <p:nvSpPr>
            <p:cNvPr id="17" name="Shape 15"/>
            <p:cNvSpPr/>
            <p:nvPr/>
          </p:nvSpPr>
          <p:spPr>
            <a:xfrm>
              <a:off x="1200" y="8800"/>
              <a:ext cx="23200" cy="2000"/>
            </a:xfrm>
            <a:prstGeom prst="rect">
              <a:avLst/>
            </a:prstGeom>
            <a:solidFill>
              <a:srgbClr val="0B2D5B"/>
            </a:solidFill>
          </p:spPr>
        </p:sp>
        <p:sp>
          <p:nvSpPr>
            <p:cNvPr id="18" name="Text 16"/>
            <p:cNvSpPr/>
            <p:nvPr/>
          </p:nvSpPr>
          <p:spPr>
            <a:xfrm>
              <a:off x="2000" y="9000"/>
              <a:ext cx="21600" cy="1600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3600" dirty="0">
                  <a:solidFill>
                    <a:srgbClr val="FFFFFF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项目目标：</a:t>
              </a:r>
              <a:r>
                <a:rPr lang="en-US" sz="4000" b="1" dirty="0">
                  <a:solidFill>
                    <a:srgbClr val="00C9A7"/>
                  </a:solidFill>
                  <a:effectLst/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rPr>
                <a:t>看得清 · 识得准 · 预警早 · 用得起</a:t>
              </a:r>
              <a:endParaRPr lang="en-US" sz="4000" b="1" dirty="0">
                <a:solidFill>
                  <a:srgbClr val="00C9A7"/>
                </a:solidFill>
                <a:effectLst/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endParaRPr>
            </a:p>
          </p:txBody>
        </p:sp>
      </p:grpSp>
      <p:sp>
        <p:nvSpPr>
          <p:cNvPr id="19" name="Shape 17"/>
          <p:cNvSpPr/>
          <p:nvPr/>
        </p:nvSpPr>
        <p:spPr>
          <a:xfrm>
            <a:off x="762000" y="87884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14732000" y="88392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</a:t>
            </a:r>
            <a:endParaRPr lang="en-US" sz="1300" dirty="0"/>
          </a:p>
        </p:txBody>
      </p:sp>
      <p:pic>
        <p:nvPicPr>
          <p:cNvPr id="25" name="图片 24" descr="人工镜检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000" y="4228465"/>
            <a:ext cx="3634740" cy="242189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rcRect l="276" t="17838" r="-276" b="12076"/>
          <a:stretch>
            <a:fillRect/>
          </a:stretch>
        </p:blipFill>
        <p:spPr>
          <a:xfrm>
            <a:off x="6294120" y="4228465"/>
            <a:ext cx="3687445" cy="2425065"/>
          </a:xfrm>
          <a:prstGeom prst="rect">
            <a:avLst/>
          </a:prstGeom>
        </p:spPr>
      </p:pic>
      <p:pic>
        <p:nvPicPr>
          <p:cNvPr id="27" name="图片 26" descr="C:/Users/zhang/Desktop/光电设计大赛/新PPT照片/高端设备.png高端设备"/>
          <p:cNvPicPr>
            <a:picLocks noChangeAspect="1"/>
          </p:cNvPicPr>
          <p:nvPr/>
        </p:nvPicPr>
        <p:blipFill>
          <a:blip r:embed="rId3"/>
          <a:srcRect l="35" r="35"/>
          <a:stretch>
            <a:fillRect/>
          </a:stretch>
        </p:blipFill>
        <p:spPr>
          <a:xfrm rot="16200000">
            <a:off x="11850370" y="3625215"/>
            <a:ext cx="2420620" cy="36271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 项目背景与市场机遇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用户画像：五类核心客户的</a:t>
            </a:r>
            <a:r>
              <a:rPr lang="en-US" sz="3000" dirty="0">
                <a:solidFill>
                  <a:srgbClr val="FF00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痛点</a:t>
            </a:r>
            <a:r>
              <a:rPr lang="en-US" sz="3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与</a:t>
            </a:r>
            <a:r>
              <a:rPr lang="en-US" sz="3000" dirty="0">
                <a:solidFill>
                  <a:srgbClr val="FF00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需求</a:t>
            </a:r>
            <a:endParaRPr lang="en-US" sz="3000" dirty="0">
              <a:solidFill>
                <a:srgbClr val="FF0000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762000" y="1651000"/>
            <a:ext cx="2743200" cy="6459855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B2D5B">
                <a:alpha val="7059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16000" y="4888230"/>
            <a:ext cx="22352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水库</a:t>
            </a:r>
            <a:r>
              <a:rPr lang="zh-CN" altLang="en-US" sz="2000" dirty="0">
                <a:solidFill>
                  <a:srgbClr val="0B2D5B"/>
                </a:solidFill>
                <a:latin typeface="Liter" panose="02000503030000020004" pitchFamily="34" charset="0"/>
                <a:ea typeface="宋体" panose="02010600030101010101" pitchFamily="2" charset="-122"/>
                <a:cs typeface="Liter" panose="02000503030000020004" pitchFamily="34" charset="-120"/>
              </a:rPr>
              <a:t>、自来水厂</a:t>
            </a:r>
            <a:endParaRPr lang="zh-CN" altLang="en-US" sz="2000" dirty="0">
              <a:solidFill>
                <a:srgbClr val="0B2D5B"/>
              </a:solidFill>
              <a:latin typeface="Liter" panose="02000503030000020004" pitchFamily="34" charset="0"/>
              <a:ea typeface="宋体" panose="02010600030101010101" pitchFamily="2" charset="-122"/>
              <a:cs typeface="Liter" panose="020005030300000200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16000" y="5324475"/>
            <a:ext cx="2235200" cy="11442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痛点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威胁供水安全，现有</a:t>
            </a:r>
            <a:r>
              <a:rPr lang="en-US" dirty="0">
                <a:solidFill>
                  <a:srgbClr val="FF00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监测滞后</a:t>
            </a: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，人工巡检频次低</a:t>
            </a:r>
            <a:endParaRPr lang="en-US" sz="1600" dirty="0">
              <a:solidFill>
                <a:srgbClr val="0F1B2D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16000" y="6576060"/>
            <a:ext cx="22352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需求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原位实时监测</a:t>
            </a: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，藻种识别预警，保障饮水安全</a:t>
            </a:r>
            <a:endParaRPr lang="en-US" sz="1600" dirty="0">
              <a:solidFill>
                <a:srgbClr val="0F1B2D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59200" y="1651000"/>
            <a:ext cx="2743200" cy="645922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B2D5B">
                <a:alpha val="7059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13200" y="4888230"/>
            <a:ext cx="22352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水产养殖</a:t>
            </a:r>
            <a:r>
              <a:rPr lang="zh-CN" altLang="en-US" sz="2000" dirty="0">
                <a:solidFill>
                  <a:srgbClr val="0B2D5B"/>
                </a:solidFill>
                <a:latin typeface="Liter" panose="02000503030000020004" pitchFamily="34" charset="0"/>
                <a:ea typeface="宋体" panose="02010600030101010101" pitchFamily="2" charset="-122"/>
                <a:cs typeface="Liter" panose="02000503030000020004" pitchFamily="34" charset="-120"/>
              </a:rPr>
              <a:t>、海洋牧场</a:t>
            </a:r>
            <a:endParaRPr lang="zh-CN" altLang="en-US" sz="2000" dirty="0">
              <a:solidFill>
                <a:srgbClr val="0B2D5B"/>
              </a:solidFill>
              <a:latin typeface="Liter" panose="02000503030000020004" pitchFamily="34" charset="0"/>
              <a:ea typeface="宋体" panose="02010600030101010101" pitchFamily="2" charset="-122"/>
              <a:cs typeface="Liter" panose="020005030300000200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013200" y="5325745"/>
            <a:ext cx="22352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痛点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有害藻类导致鱼类大量死亡，</a:t>
            </a:r>
            <a:r>
              <a:rPr lang="en-US" dirty="0">
                <a:solidFill>
                  <a:srgbClr val="FF00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经济损失</a:t>
            </a: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严重</a:t>
            </a:r>
            <a:endParaRPr lang="en-US" sz="1600" dirty="0">
              <a:solidFill>
                <a:srgbClr val="0F1B2D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013200" y="6576060"/>
            <a:ext cx="22352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需求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早期预警</a:t>
            </a: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降低损失，低成本可大规模布点</a:t>
            </a:r>
            <a:endParaRPr lang="en-US" sz="1600" dirty="0">
              <a:solidFill>
                <a:srgbClr val="0F1B2D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756400" y="1651000"/>
            <a:ext cx="2743200" cy="6459855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B2D5B">
                <a:alpha val="7059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10400" y="4888230"/>
            <a:ext cx="22352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环保水利部门</a:t>
            </a:r>
            <a:endParaRPr lang="en-US" sz="2000" dirty="0">
              <a:solidFill>
                <a:srgbClr val="0B2D5B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010400" y="5325745"/>
            <a:ext cx="22352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痛点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F1B2D"/>
                </a:solidFill>
                <a:latin typeface="Liter" panose="02000503030000020004" pitchFamily="34" charset="0"/>
                <a:ea typeface="宋体" panose="02010600030101010101" pitchFamily="2" charset="-122"/>
                <a:cs typeface="Liter" panose="02000503030000020004" pitchFamily="34" charset="-120"/>
              </a:rPr>
              <a:t>监测</a:t>
            </a: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面积大，监测点位</a:t>
            </a:r>
            <a:r>
              <a:rPr lang="zh-CN" altLang="en-US" sz="1600" dirty="0">
                <a:solidFill>
                  <a:srgbClr val="0F1B2D"/>
                </a:solidFill>
                <a:latin typeface="Liter" panose="02000503030000020004" pitchFamily="34" charset="0"/>
                <a:ea typeface="宋体" panose="02010600030101010101" pitchFamily="2" charset="-122"/>
                <a:cs typeface="Liter" panose="02000503030000020004" pitchFamily="34" charset="-120"/>
              </a:rPr>
              <a:t>难覆盖，藻华</a:t>
            </a:r>
            <a:r>
              <a:rPr lang="zh-CN" altLang="en-US" dirty="0">
                <a:solidFill>
                  <a:srgbClr val="FF0000"/>
                </a:solidFill>
                <a:latin typeface="Liter" panose="02000503030000020004" pitchFamily="34" charset="0"/>
                <a:ea typeface="宋体" panose="02010600030101010101" pitchFamily="2" charset="-122"/>
                <a:cs typeface="Liter" panose="02000503030000020004" pitchFamily="34" charset="-120"/>
              </a:rPr>
              <a:t>难及时发现</a:t>
            </a:r>
            <a:endParaRPr lang="zh-CN" altLang="en-US" dirty="0">
              <a:solidFill>
                <a:srgbClr val="FF0000"/>
              </a:solidFill>
              <a:latin typeface="Liter" panose="02000503030000020004" pitchFamily="34" charset="0"/>
              <a:ea typeface="宋体" panose="02010600030101010101" pitchFamily="2" charset="-122"/>
              <a:cs typeface="Liter" panose="020005030300000200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10400" y="6576060"/>
            <a:ext cx="22352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需求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网络化</a:t>
            </a:r>
            <a:r>
              <a:rPr lang="en-US" dirty="0">
                <a:solidFill>
                  <a:srgbClr val="FF00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多点监测</a:t>
            </a: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，数据平台集中管理</a:t>
            </a:r>
            <a:endParaRPr lang="en-US" sz="1600" dirty="0">
              <a:solidFill>
                <a:srgbClr val="0F1B2D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753600" y="1651000"/>
            <a:ext cx="2743200" cy="645922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B2D5B">
                <a:alpha val="7059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007600" y="4888230"/>
            <a:ext cx="22352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工业取水口</a:t>
            </a:r>
            <a:endParaRPr lang="en-US" sz="2000" dirty="0">
              <a:solidFill>
                <a:srgbClr val="0B2D5B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007600" y="5325745"/>
            <a:ext cx="22352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痛点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生物堵塞导致停机，</a:t>
            </a:r>
            <a:r>
              <a:rPr lang="zh-CN" altLang="en-US" dirty="0">
                <a:solidFill>
                  <a:srgbClr val="FF0000"/>
                </a:solidFill>
                <a:latin typeface="Liter" panose="02000503030000020004" pitchFamily="34" charset="0"/>
                <a:ea typeface="宋体" panose="02010600030101010101" pitchFamily="2" charset="-122"/>
                <a:cs typeface="Liter" panose="02000503030000020004" pitchFamily="34" charset="-120"/>
              </a:rPr>
              <a:t>影响工业生产安全</a:t>
            </a:r>
            <a:endParaRPr lang="zh-CN" altLang="en-US" dirty="0">
              <a:solidFill>
                <a:srgbClr val="FF0000"/>
              </a:solidFill>
              <a:latin typeface="Liter" panose="02000503030000020004" pitchFamily="34" charset="0"/>
              <a:ea typeface="宋体" panose="02010600030101010101" pitchFamily="2" charset="-122"/>
              <a:cs typeface="Liter" panose="02000503030000020004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007600" y="6576060"/>
            <a:ext cx="22352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需求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实时监测预警，</a:t>
            </a:r>
            <a:r>
              <a:rPr lang="en-US" dirty="0">
                <a:solidFill>
                  <a:srgbClr val="FF000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提前采取</a:t>
            </a: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防控措施</a:t>
            </a:r>
            <a:endParaRPr lang="en-US" sz="1600" dirty="0">
              <a:solidFill>
                <a:srgbClr val="0F1B2D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2750800" y="1651000"/>
            <a:ext cx="2743200" cy="646049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B2D5B">
                <a:alpha val="7059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3004800" y="4888230"/>
            <a:ext cx="22352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高校、科研院所</a:t>
            </a:r>
            <a:endParaRPr lang="en-US" sz="2000" dirty="0">
              <a:solidFill>
                <a:srgbClr val="0B2D5B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3004800" y="5325745"/>
            <a:ext cx="22352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痛点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F1B2D"/>
                </a:solidFill>
                <a:latin typeface="Liter" panose="02000503030000020004" pitchFamily="34" charset="0"/>
                <a:ea typeface="宋体" panose="02010600030101010101" pitchFamily="2" charset="-122"/>
                <a:cs typeface="Liter" panose="02000503030000020004" pitchFamily="34" charset="-120"/>
              </a:rPr>
              <a:t>部署高端设备</a:t>
            </a:r>
            <a:r>
              <a:rPr lang="zh-CN" altLang="en-US" dirty="0">
                <a:solidFill>
                  <a:srgbClr val="FF0000"/>
                </a:solidFill>
                <a:latin typeface="Liter" panose="02000503030000020004" pitchFamily="34" charset="0"/>
                <a:ea typeface="宋体" panose="02010600030101010101" pitchFamily="2" charset="-122"/>
                <a:cs typeface="Liter" panose="02000503030000020004" pitchFamily="34" charset="-120"/>
              </a:rPr>
              <a:t>成本高</a:t>
            </a:r>
            <a:r>
              <a:rPr lang="zh-CN" altLang="en-US" sz="1600" dirty="0">
                <a:solidFill>
                  <a:srgbClr val="0F1B2D"/>
                </a:solidFill>
                <a:latin typeface="Liter" panose="02000503030000020004" pitchFamily="34" charset="0"/>
                <a:ea typeface="宋体" panose="02010600030101010101" pitchFamily="2" charset="-122"/>
                <a:cs typeface="Liter" panose="02000503030000020004" pitchFamily="34" charset="-120"/>
              </a:rPr>
              <a:t>，野外实验平台不足</a:t>
            </a:r>
            <a:endParaRPr lang="zh-CN" altLang="en-US" sz="1600" dirty="0">
              <a:solidFill>
                <a:srgbClr val="0F1B2D"/>
              </a:solidFill>
              <a:latin typeface="Liter" panose="02000503030000020004" pitchFamily="34" charset="0"/>
              <a:ea typeface="宋体" panose="02010600030101010101" pitchFamily="2" charset="-122"/>
              <a:cs typeface="Liter" panose="02000503030000020004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3004800" y="6576060"/>
            <a:ext cx="22352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需求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F1B2D"/>
                </a:solidFill>
                <a:latin typeface="Liter" panose="02000503030000020004" pitchFamily="34" charset="0"/>
                <a:ea typeface="宋体" panose="02010600030101010101" pitchFamily="2" charset="-122"/>
                <a:cs typeface="Liter" panose="02000503030000020004" pitchFamily="34" charset="-120"/>
              </a:rPr>
              <a:t>实现</a:t>
            </a:r>
            <a:r>
              <a:rPr lang="zh-CN" altLang="en-US" sz="1600" dirty="0">
                <a:solidFill>
                  <a:srgbClr val="FF0000"/>
                </a:solidFill>
                <a:latin typeface="Liter" panose="02000503030000020004" pitchFamily="34" charset="0"/>
                <a:ea typeface="宋体" panose="02010600030101010101" pitchFamily="2" charset="-122"/>
                <a:cs typeface="Liter" panose="02000503030000020004" pitchFamily="34" charset="-120"/>
              </a:rPr>
              <a:t>低成本部署</a:t>
            </a:r>
            <a:r>
              <a:rPr lang="zh-CN" altLang="en-US" sz="1600" dirty="0">
                <a:solidFill>
                  <a:srgbClr val="0F1B2D"/>
                </a:solidFill>
                <a:latin typeface="Liter" panose="02000503030000020004" pitchFamily="34" charset="0"/>
                <a:ea typeface="宋体" panose="02010600030101010101" pitchFamily="2" charset="-122"/>
                <a:cs typeface="Liter" panose="02000503030000020004" pitchFamily="34" charset="-120"/>
              </a:rPr>
              <a:t>维护，构建低成本工作平台</a:t>
            </a:r>
            <a:endParaRPr lang="zh-CN" altLang="en-US" sz="1600" dirty="0">
              <a:solidFill>
                <a:srgbClr val="0F1B2D"/>
              </a:solidFill>
              <a:latin typeface="Liter" panose="02000503030000020004" pitchFamily="34" charset="0"/>
              <a:ea typeface="宋体" panose="02010600030101010101" pitchFamily="2" charset="-122"/>
              <a:cs typeface="Liter" panose="02000503030000020004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62000" y="87884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14732000" y="88392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06</a:t>
            </a:r>
            <a:endParaRPr lang="en-US" sz="1300" dirty="0"/>
          </a:p>
        </p:txBody>
      </p:sp>
      <p:pic>
        <p:nvPicPr>
          <p:cNvPr id="57" name="图片 56" descr="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65125" y="2251710"/>
            <a:ext cx="2114550" cy="2114550"/>
          </a:xfrm>
          <a:prstGeom prst="rect">
            <a:avLst/>
          </a:prstGeom>
        </p:spPr>
      </p:pic>
      <p:pic>
        <p:nvPicPr>
          <p:cNvPr id="58" name="图片 57" descr="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7925" y="2251710"/>
            <a:ext cx="2114550" cy="2114550"/>
          </a:xfrm>
          <a:prstGeom prst="rect">
            <a:avLst/>
          </a:prstGeom>
        </p:spPr>
      </p:pic>
      <p:pic>
        <p:nvPicPr>
          <p:cNvPr id="59" name="图片 58" descr="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725" y="2251710"/>
            <a:ext cx="2114550" cy="2114550"/>
          </a:xfrm>
          <a:prstGeom prst="rect">
            <a:avLst/>
          </a:prstGeom>
        </p:spPr>
      </p:pic>
      <p:pic>
        <p:nvPicPr>
          <p:cNvPr id="60" name="图片 59" descr="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525" y="2251710"/>
            <a:ext cx="2114550" cy="2114550"/>
          </a:xfrm>
          <a:prstGeom prst="rect">
            <a:avLst/>
          </a:prstGeom>
        </p:spPr>
      </p:pic>
      <p:pic>
        <p:nvPicPr>
          <p:cNvPr id="61" name="图片 60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325" y="2251710"/>
            <a:ext cx="2114550" cy="21145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hl54qt7z4deq/mnt/agents/output/zaoyingzhiwei/images/bg_reference.png"/>
          <p:cNvPicPr>
            <a:picLocks noChangeAspect="1"/>
          </p:cNvPicPr>
          <p:nvPr/>
        </p:nvPicPr>
        <p:blipFill>
          <a:blip r:embed="rId1"/>
          <a:srcRect l="20000" t="20000" r="10000" b="10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71A33">
                  <a:alpha val="91000"/>
                </a:srgbClr>
              </a:gs>
              <a:gs pos="55000">
                <a:srgbClr val="071A33">
                  <a:alpha val="82000"/>
                </a:srgbClr>
              </a:gs>
              <a:gs pos="100000">
                <a:srgbClr val="071A33">
                  <a:alpha val="38000"/>
                </a:srgbClr>
              </a:gs>
            </a:gsLst>
            <a:lin ang="0" scaled="1"/>
          </a:gradFill>
        </p:spPr>
      </p:sp>
      <p:sp>
        <p:nvSpPr>
          <p:cNvPr id="4" name="Text 1"/>
          <p:cNvSpPr/>
          <p:nvPr/>
        </p:nvSpPr>
        <p:spPr>
          <a:xfrm>
            <a:off x="1270000" y="2794000"/>
            <a:ext cx="2540000" cy="1143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70000" y="4064000"/>
            <a:ext cx="762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产品与技术方案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70000" y="48260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56471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偏振显微成像 + 智能识别的完整技术链路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270000" y="3937000"/>
            <a:ext cx="635000" cy="50800"/>
          </a:xfrm>
          <a:prstGeom prst="rect">
            <a:avLst/>
          </a:prstGeom>
          <a:solidFill>
            <a:srgbClr val="00C9A7"/>
          </a:solidFill>
        </p:spPr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 产品与技术方案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产品概述：低成本水下微藻智能监测工具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762000" y="1651000"/>
            <a:ext cx="7112000" cy="533400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B2D5B">
                <a:alpha val="705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66800" y="1670050"/>
            <a:ext cx="6502400" cy="1606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藻影知微不是单一水下相机，也不是单一算法模型，而是一套</a:t>
            </a:r>
            <a:endParaRPr lang="en-US" dirty="0">
              <a:solidFill>
                <a:srgbClr val="0F1B2D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低成本、轻量化、可布点、可联网、可迭代</a:t>
            </a:r>
            <a:r>
              <a:rPr lang="en-US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的水下微藻智能监测工具。</a:t>
            </a:r>
            <a:endParaRPr lang="en-US" dirty="0">
              <a:solidFill>
                <a:srgbClr val="0F1B2D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66800" y="3403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3555" y="45006"/>
                </a:moveTo>
                <a:lnTo>
                  <a:pt x="96331" y="66675"/>
                </a:lnTo>
                <a:lnTo>
                  <a:pt x="44450" y="66675"/>
                </a:lnTo>
                <a:cubicBezTo>
                  <a:pt x="19933" y="66675"/>
                  <a:pt x="0" y="86608"/>
                  <a:pt x="0" y="11112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311150" y="333375"/>
                </a:lnTo>
                <a:cubicBezTo>
                  <a:pt x="335667" y="333375"/>
                  <a:pt x="355600" y="313442"/>
                  <a:pt x="355600" y="288925"/>
                </a:cubicBezTo>
                <a:lnTo>
                  <a:pt x="355600" y="111125"/>
                </a:lnTo>
                <a:cubicBezTo>
                  <a:pt x="355600" y="86608"/>
                  <a:pt x="335667" y="66675"/>
                  <a:pt x="311150" y="66675"/>
                </a:cubicBezTo>
                <a:lnTo>
                  <a:pt x="259269" y="66675"/>
                </a:lnTo>
                <a:lnTo>
                  <a:pt x="252045" y="45006"/>
                </a:lnTo>
                <a:cubicBezTo>
                  <a:pt x="247531" y="31393"/>
                  <a:pt x="234821" y="22225"/>
                  <a:pt x="220444" y="22225"/>
                </a:cubicBezTo>
                <a:lnTo>
                  <a:pt x="135156" y="22225"/>
                </a:lnTo>
                <a:cubicBezTo>
                  <a:pt x="120779" y="22225"/>
                  <a:pt x="108069" y="31393"/>
                  <a:pt x="103555" y="45006"/>
                </a:cubicBezTo>
                <a:close/>
                <a:moveTo>
                  <a:pt x="177800" y="133350"/>
                </a:moveTo>
                <a:cubicBezTo>
                  <a:pt x="214599" y="133350"/>
                  <a:pt x="244475" y="163226"/>
                  <a:pt x="244475" y="200025"/>
                </a:cubicBezTo>
                <a:cubicBezTo>
                  <a:pt x="244475" y="236824"/>
                  <a:pt x="214599" y="266700"/>
                  <a:pt x="177800" y="266700"/>
                </a:cubicBezTo>
                <a:cubicBezTo>
                  <a:pt x="141001" y="266700"/>
                  <a:pt x="111125" y="236824"/>
                  <a:pt x="111125" y="200025"/>
                </a:cubicBezTo>
                <a:cubicBezTo>
                  <a:pt x="111125" y="163226"/>
                  <a:pt x="141001" y="133350"/>
                  <a:pt x="177800" y="133350"/>
                </a:cubicBezTo>
                <a:close/>
              </a:path>
            </a:pathLst>
          </a:custGeom>
          <a:solidFill>
            <a:srgbClr val="00C9A7"/>
          </a:solidFill>
        </p:spPr>
      </p:sp>
      <p:sp>
        <p:nvSpPr>
          <p:cNvPr id="8" name="Text 6"/>
          <p:cNvSpPr/>
          <p:nvPr/>
        </p:nvSpPr>
        <p:spPr>
          <a:xfrm>
            <a:off x="1574800" y="3403600"/>
            <a:ext cx="254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偏振显微成像终端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74800" y="3810000"/>
            <a:ext cx="57404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水下原位偏振显微成像硬件，透射式照明增强透明微藻边界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66800" y="4597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00C9A7"/>
          </a:solidFill>
        </p:spPr>
      </p:sp>
      <p:sp>
        <p:nvSpPr>
          <p:cNvPr id="11" name="Text 9"/>
          <p:cNvSpPr/>
          <p:nvPr/>
        </p:nvSpPr>
        <p:spPr>
          <a:xfrm>
            <a:off x="1574800" y="4597400"/>
            <a:ext cx="254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智能算法引擎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74800" y="5003800"/>
            <a:ext cx="57404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RDN图像增强 + YOLO目标检测，实现藻种识别与数量统计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" y="5791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00C9A7"/>
          </a:solidFill>
        </p:spPr>
      </p:sp>
      <p:sp>
        <p:nvSpPr>
          <p:cNvPr id="14" name="Text 12"/>
          <p:cNvSpPr/>
          <p:nvPr/>
        </p:nvSpPr>
        <p:spPr>
          <a:xfrm>
            <a:off x="1574800" y="5791200"/>
            <a:ext cx="254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预警服务平台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74800" y="6197600"/>
            <a:ext cx="57404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结果展示、数据存储、报告生成、风险预警</a:t>
            </a:r>
            <a:endParaRPr lang="zh-CN" altLang="en-US" sz="1400" dirty="0">
              <a:solidFill>
                <a:srgbClr val="0F1B2D"/>
              </a:solidFill>
              <a:latin typeface="Liter" panose="02000503030000020004" pitchFamily="34" charset="0"/>
              <a:ea typeface="宋体" panose="02010600030101010101" pitchFamily="2" charset="-122"/>
              <a:cs typeface="Liter" panose="020005030300000200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255000" y="5283200"/>
            <a:ext cx="7239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zh-CN" altLang="en-US" sz="1300" dirty="0"/>
              <a:t>设备结构图</a:t>
            </a:r>
            <a:endParaRPr lang="zh-CN" alt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255000" y="5842000"/>
            <a:ext cx="7239000" cy="1143000"/>
          </a:xfrm>
          <a:prstGeom prst="rect">
            <a:avLst/>
          </a:prstGeom>
          <a:solidFill>
            <a:srgbClr val="0B2D5B"/>
          </a:solidFill>
        </p:spPr>
      </p:sp>
      <p:sp>
        <p:nvSpPr>
          <p:cNvPr id="19" name="Text 16"/>
          <p:cNvSpPr/>
          <p:nvPr/>
        </p:nvSpPr>
        <p:spPr>
          <a:xfrm>
            <a:off x="8559800" y="594360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系统输出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559800" y="6299200"/>
            <a:ext cx="6629400" cy="55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原始显微图像 | 偏振增强图像 | 藻种类别与数量 | 趋势分析与风险预警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2000" y="7366000"/>
            <a:ext cx="14732000" cy="711200"/>
          </a:xfrm>
          <a:prstGeom prst="rect">
            <a:avLst/>
          </a:prstGeom>
          <a:solidFill>
            <a:srgbClr val="00C9A7">
              <a:alpha val="6275"/>
            </a:srgbClr>
          </a:solidFill>
        </p:spPr>
      </p:sp>
      <p:sp>
        <p:nvSpPr>
          <p:cNvPr id="22" name="Text 19"/>
          <p:cNvSpPr/>
          <p:nvPr/>
        </p:nvSpPr>
        <p:spPr>
          <a:xfrm>
            <a:off x="1016000" y="7366000"/>
            <a:ext cx="14224000" cy="711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基础版样机成本仅 </a:t>
            </a:r>
            <a:r>
              <a:rPr lang="en-US" sz="36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1.6~2.4万元</a:t>
            </a:r>
            <a:r>
              <a:rPr lang="en-US" sz="24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/ 套，规模化后仍有降本空间</a:t>
            </a:r>
            <a:endParaRPr lang="en-US" sz="2400" dirty="0">
              <a:solidFill>
                <a:srgbClr val="0B2D5B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62000" y="87884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24" name="Text 21"/>
          <p:cNvSpPr/>
          <p:nvPr/>
        </p:nvSpPr>
        <p:spPr>
          <a:xfrm>
            <a:off x="14732000" y="88392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08</a:t>
            </a:r>
            <a:endParaRPr lang="en-US" sz="1300" dirty="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0" y="1651000"/>
            <a:ext cx="6858000" cy="36068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 产品与技术方案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270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技术路线：从"偏振采集"到"智能识别"的完整链路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762000" y="1651000"/>
            <a:ext cx="14732000" cy="2032000"/>
          </a:xfrm>
          <a:prstGeom prst="rect">
            <a:avLst/>
          </a:prstGeom>
          <a:solidFill>
            <a:srgbClr val="0B2D5B"/>
          </a:solidFill>
        </p:spPr>
      </p:sp>
      <p:sp>
        <p:nvSpPr>
          <p:cNvPr id="6" name="Text 4"/>
          <p:cNvSpPr/>
          <p:nvPr/>
        </p:nvSpPr>
        <p:spPr>
          <a:xfrm>
            <a:off x="1143000" y="1841500"/>
            <a:ext cx="635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41500" y="1841500"/>
            <a:ext cx="177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偏振采集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311400"/>
            <a:ext cx="2794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DoFP偏振相机采集0°、45°、90°三方向偏振响应，获取Stokes参数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64000" y="2413000"/>
            <a:ext cx="381000" cy="0"/>
          </a:xfrm>
          <a:prstGeom prst="straightConnector1">
            <a:avLst/>
          </a:prstGeom>
          <a:noFill/>
          <a:ln w="25400">
            <a:solidFill>
              <a:srgbClr val="00C9A7"/>
            </a:solidFill>
            <a:prstDash val="solid"/>
            <a:headEnd type="none"/>
            <a:tailEnd type="arrow"/>
          </a:ln>
        </p:spPr>
      </p:sp>
      <p:sp>
        <p:nvSpPr>
          <p:cNvPr id="10" name="Text 8"/>
          <p:cNvSpPr/>
          <p:nvPr/>
        </p:nvSpPr>
        <p:spPr>
          <a:xfrm>
            <a:off x="4572000" y="1841500"/>
            <a:ext cx="635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70500" y="1841500"/>
            <a:ext cx="177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图像重建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311400"/>
            <a:ext cx="2794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计算DoLP、AoP，重建任意方向线偏振图像，丰富信息维度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93000" y="2413000"/>
            <a:ext cx="381000" cy="0"/>
          </a:xfrm>
          <a:prstGeom prst="straightConnector1">
            <a:avLst/>
          </a:prstGeom>
          <a:noFill/>
          <a:ln w="25400">
            <a:solidFill>
              <a:srgbClr val="00C9A7"/>
            </a:solidFill>
            <a:prstDash val="solid"/>
            <a:headEnd type="none"/>
            <a:tailEnd type="arrow"/>
          </a:ln>
        </p:spPr>
      </p:sp>
      <p:sp>
        <p:nvSpPr>
          <p:cNvPr id="14" name="Text 12"/>
          <p:cNvSpPr/>
          <p:nvPr/>
        </p:nvSpPr>
        <p:spPr>
          <a:xfrm>
            <a:off x="8001000" y="1841500"/>
            <a:ext cx="635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99500" y="1841500"/>
            <a:ext cx="177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增强质控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01000" y="2311400"/>
            <a:ext cx="2794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RDN残差稠密网络增强边缘纹理，质量评分Q过滤低质图像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922000" y="2413000"/>
            <a:ext cx="381000" cy="0"/>
          </a:xfrm>
          <a:prstGeom prst="straightConnector1">
            <a:avLst/>
          </a:prstGeom>
          <a:noFill/>
          <a:ln w="25400">
            <a:solidFill>
              <a:srgbClr val="00C9A7"/>
            </a:solidFill>
            <a:prstDash val="solid"/>
            <a:headEnd type="none"/>
            <a:tailEnd type="arrow"/>
          </a:ln>
        </p:spPr>
      </p:sp>
      <p:sp>
        <p:nvSpPr>
          <p:cNvPr id="18" name="Text 16"/>
          <p:cNvSpPr/>
          <p:nvPr/>
        </p:nvSpPr>
        <p:spPr>
          <a:xfrm>
            <a:off x="11430000" y="1841500"/>
            <a:ext cx="635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128500" y="1841500"/>
            <a:ext cx="2921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识别计数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0" y="2311400"/>
            <a:ext cx="3556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YOLO目标检测完成藻种分类、数量统计与增长趋势预测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4064000"/>
            <a:ext cx="635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光学方案：透射式照明 + 偏振成像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4635500"/>
            <a:ext cx="6858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核心挑战</a:t>
            </a: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：微藻尺寸小、背景复杂、透明度高，伴随悬浮颗粒、气泡和浑浊散射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解决方案</a:t>
            </a: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：采用"水下显微 + 偏振成像"光电融合方案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透射式照明抑制直射背景，突出细胞边界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多偏振通道采集提高目标与浑浊背景可分离性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001000" y="7239000"/>
            <a:ext cx="74930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zh-CN" altLang="en-US" sz="1300" dirty="0">
                <a:solidFill>
                  <a:srgbClr val="3A7CA5"/>
                </a:solidFill>
                <a:latin typeface="Liter" panose="02000503030000020004" pitchFamily="34" charset="0"/>
                <a:ea typeface="宋体" panose="02010600030101010101" pitchFamily="2" charset="-122"/>
                <a:cs typeface="Liter" panose="02000503030000020004" pitchFamily="34" charset="-120"/>
              </a:rPr>
              <a:t>系统技术流程图</a:t>
            </a:r>
            <a:endParaRPr lang="zh-CN" altLang="en-US" sz="1300" dirty="0">
              <a:solidFill>
                <a:srgbClr val="3A7CA5"/>
              </a:solidFill>
              <a:latin typeface="Liter" panose="02000503030000020004" pitchFamily="34" charset="0"/>
              <a:ea typeface="宋体" panose="02010600030101010101" pitchFamily="2" charset="-122"/>
              <a:cs typeface="Liter" panose="02000503030000020004" pitchFamily="34" charset="-12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62000" y="7747000"/>
            <a:ext cx="14732000" cy="584200"/>
          </a:xfrm>
          <a:prstGeom prst="rect">
            <a:avLst/>
          </a:prstGeom>
          <a:solidFill>
            <a:srgbClr val="00C9A7">
              <a:alpha val="6275"/>
            </a:srgbClr>
          </a:solidFill>
        </p:spPr>
      </p:sp>
      <p:sp>
        <p:nvSpPr>
          <p:cNvPr id="26" name="Text 23"/>
          <p:cNvSpPr/>
          <p:nvPr/>
        </p:nvSpPr>
        <p:spPr>
          <a:xfrm>
            <a:off x="1016000" y="7823200"/>
            <a:ext cx="1422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偏振信息增强透明/半透明微藻的</a:t>
            </a:r>
            <a:r>
              <a:rPr lang="en-US" sz="1600" b="1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边界、纹理和散射差异</a:t>
            </a:r>
            <a:r>
              <a:rPr lang="en-US" sz="16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，为后续算法识别提供高质量输入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62000" y="87884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28" name="Text 25"/>
          <p:cNvSpPr/>
          <p:nvPr/>
        </p:nvSpPr>
        <p:spPr>
          <a:xfrm>
            <a:off x="14732000" y="88392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09</a:t>
            </a:r>
            <a:endParaRPr lang="en-US" sz="1300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0395" y="3723640"/>
            <a:ext cx="6745605" cy="35661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 产品与技术方案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270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偏振成像：利用Stokes参数重建增强藻体轮廓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762000" y="1703705"/>
            <a:ext cx="6858000" cy="312420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B2D5B">
                <a:alpha val="705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66800" y="1828800"/>
            <a:ext cx="381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Stokes参数计算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/>
              <p:nvPr/>
            </p:nvSpPr>
            <p:spPr>
              <a:xfrm>
                <a:off x="1066800" y="2260600"/>
                <a:ext cx="6248400" cy="257492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7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100" dirty="0"/>
                        </m:ctrlPr>
                      </m:sSubPr>
                      <m:e>
                        <m:r>
                          <a:rPr lang="en-US" sz="1100" i="1" dirty="0">
                            <a:latin typeface="Cambria Math" panose="02040503050406030204" charset="0"/>
                          </a:rPr>
                          <m:t>𝑆</m:t>
                        </m:r>
                      </m:e>
                      <m:sub>
                        <m:r>
                          <a:rPr lang="en-US" sz="1100" dirty="0">
                            <a:latin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sz="1600" dirty="0">
                        <a:latin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sz="1100" dirty="0"/>
                        </m:ctrlPr>
                      </m:sSubPr>
                      <m:e>
                        <m:r>
                          <a:rPr lang="en-US" sz="1100" i="1" dirty="0">
                            <a:latin typeface="Cambria Math" panose="02040503050406030204" charset="0"/>
                          </a:rPr>
                          <m:t>𝐼</m:t>
                        </m:r>
                      </m:e>
                      <m:sub>
                        <m:r>
                          <a:rPr lang="en-US" sz="1100" dirty="0">
                            <a:latin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sz="1600" dirty="0">
                        <a:latin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lang="en-US" sz="1100" dirty="0"/>
                        </m:ctrlPr>
                      </m:sSubPr>
                      <m:e>
                        <m:r>
                          <a:rPr lang="en-US" sz="1100" i="1" dirty="0">
                            <a:latin typeface="Cambria Math" panose="02040503050406030204" charset="0"/>
                          </a:rPr>
                          <m:t>𝐼</m:t>
                        </m:r>
                      </m:e>
                      <m:sub>
                        <m:r>
                          <a:rPr lang="en-US" sz="1100" dirty="0">
                            <a:latin typeface="Cambria Math" panose="02040503050406030204" charset="0"/>
                          </a:rPr>
                          <m:t>90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0F1B2D"/>
                    </a:solidFill>
                    <a:latin typeface="Liter" panose="02000503030000020004" pitchFamily="34" charset="0"/>
                    <a:ea typeface="Liter" panose="02000503030000020004" pitchFamily="34" charset="-122"/>
                    <a:cs typeface="Liter" panose="02000503030000020004" pitchFamily="34" charset="-120"/>
                  </a:rPr>
                  <a:t> </a:t>
                </a:r>
                <a:endParaRPr lang="en-US" sz="1600" dirty="0"/>
              </a:p>
              <a:p>
                <a:pPr>
                  <a:lnSpc>
                    <a:spcPct val="17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100" dirty="0"/>
                        </m:ctrlPr>
                      </m:sSubPr>
                      <m:e>
                        <m:r>
                          <a:rPr lang="en-US" sz="1100" i="1" dirty="0">
                            <a:latin typeface="Cambria Math" panose="02040503050406030204" charset="0"/>
                          </a:rPr>
                          <m:t>𝑆</m:t>
                        </m:r>
                      </m:e>
                      <m:sub>
                        <m:r>
                          <a:rPr lang="en-US" sz="1100" dirty="0">
                            <a:latin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sz="1600" dirty="0">
                        <a:latin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sz="1100" dirty="0"/>
                        </m:ctrlPr>
                      </m:sSubPr>
                      <m:e>
                        <m:r>
                          <a:rPr lang="en-US" sz="1100" i="1" dirty="0">
                            <a:latin typeface="Cambria Math" panose="02040503050406030204" charset="0"/>
                          </a:rPr>
                          <m:t>𝐼</m:t>
                        </m:r>
                      </m:e>
                      <m:sub>
                        <m:r>
                          <a:rPr lang="en-US" sz="1100" dirty="0">
                            <a:latin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sz="1600" dirty="0">
                        <a:latin typeface="Cambria Math" panose="02040503050406030204" charset="0"/>
                      </a:rPr>
                      <m:t>−</m:t>
                    </m:r>
                    <m:sSub>
                      <m:sSubPr>
                        <m:ctrlPr>
                          <a:rPr lang="en-US" sz="1100" dirty="0"/>
                        </m:ctrlPr>
                      </m:sSubPr>
                      <m:e>
                        <m:r>
                          <a:rPr lang="en-US" sz="1100" i="1" dirty="0">
                            <a:latin typeface="Cambria Math" panose="02040503050406030204" charset="0"/>
                          </a:rPr>
                          <m:t>𝐼</m:t>
                        </m:r>
                      </m:e>
                      <m:sub>
                        <m:r>
                          <a:rPr lang="en-US" sz="1100" dirty="0">
                            <a:latin typeface="Cambria Math" panose="02040503050406030204" charset="0"/>
                          </a:rPr>
                          <m:t>90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0F1B2D"/>
                    </a:solidFill>
                    <a:latin typeface="Liter" panose="02000503030000020004" pitchFamily="34" charset="0"/>
                    <a:ea typeface="Liter" panose="02000503030000020004" pitchFamily="34" charset="-122"/>
                    <a:cs typeface="Liter" panose="02000503030000020004" pitchFamily="34" charset="-120"/>
                  </a:rPr>
                  <a:t> </a:t>
                </a:r>
                <a:endParaRPr lang="en-US" sz="1600" dirty="0"/>
              </a:p>
              <a:p>
                <a:pPr>
                  <a:lnSpc>
                    <a:spcPct val="17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100" dirty="0"/>
                        </m:ctrlPr>
                      </m:sSubPr>
                      <m:e>
                        <m:r>
                          <a:rPr lang="en-US" sz="1100" i="1" dirty="0">
                            <a:latin typeface="Cambria Math" panose="02040503050406030204" charset="0"/>
                          </a:rPr>
                          <m:t>𝑆</m:t>
                        </m:r>
                      </m:e>
                      <m:sub>
                        <m:r>
                          <a:rPr lang="en-US" sz="1100" dirty="0">
                            <a:latin typeface="Cambria Math" panose="02040503050406030204" charset="0"/>
                          </a:rPr>
                          <m:t>2</m:t>
                        </m:r>
                      </m:sub>
                    </m:sSub>
                    <m:r>
                      <a:rPr lang="en-US" sz="1600" dirty="0">
                        <a:latin typeface="Cambria Math" panose="02040503050406030204" charset="0"/>
                      </a:rPr>
                      <m:t>=</m:t>
                    </m:r>
                    <m:r>
                      <a:rPr lang="en-US" sz="1600" dirty="0">
                        <a:latin typeface="Cambria Math" panose="02040503050406030204" charset="0"/>
                      </a:rPr>
                      <m:t>2</m:t>
                    </m:r>
                    <m:sSub>
                      <m:sSubPr>
                        <m:ctrlPr>
                          <a:rPr lang="en-US" sz="1100" dirty="0"/>
                        </m:ctrlPr>
                      </m:sSubPr>
                      <m:e>
                        <m:r>
                          <a:rPr lang="en-US" sz="1100" i="1" dirty="0">
                            <a:latin typeface="Cambria Math" panose="02040503050406030204" charset="0"/>
                          </a:rPr>
                          <m:t>𝐼</m:t>
                        </m:r>
                      </m:e>
                      <m:sub>
                        <m:r>
                          <a:rPr lang="en-US" sz="1100" dirty="0">
                            <a:latin typeface="Cambria Math" panose="02040503050406030204" charset="0"/>
                          </a:rPr>
                          <m:t>45</m:t>
                        </m:r>
                      </m:sub>
                    </m:sSub>
                    <m:r>
                      <a:rPr lang="en-US" sz="1600" dirty="0">
                        <a:latin typeface="Cambria Math" panose="02040503050406030204" charset="0"/>
                      </a:rPr>
                      <m:t>−</m:t>
                    </m:r>
                    <m:sSub>
                      <m:sSubPr>
                        <m:ctrlPr>
                          <a:rPr lang="en-US" sz="1100" dirty="0"/>
                        </m:ctrlPr>
                      </m:sSubPr>
                      <m:e>
                        <m:r>
                          <a:rPr lang="en-US" sz="1100" i="1" dirty="0">
                            <a:latin typeface="Cambria Math" panose="02040503050406030204" charset="0"/>
                          </a:rPr>
                          <m:t>𝑆</m:t>
                        </m:r>
                      </m:e>
                      <m:sub>
                        <m:r>
                          <a:rPr lang="en-US" sz="1100" dirty="0">
                            <a:latin typeface="Cambria Math" panose="0204050305040603020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rgbClr val="0F1B2D"/>
                    </a:solidFill>
                    <a:latin typeface="Liter" panose="02000503030000020004" pitchFamily="34" charset="0"/>
                    <a:ea typeface="Liter" panose="02000503030000020004" pitchFamily="34" charset="-122"/>
                    <a:cs typeface="Liter" panose="02000503030000020004" pitchFamily="34" charset="-120"/>
                  </a:rPr>
                  <a:t> </a:t>
                </a:r>
                <a:endParaRPr lang="en-US" sz="1400" dirty="0">
                  <a:solidFill>
                    <a:srgbClr val="3A7CA5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endParaRPr>
              </a:p>
              <a:p>
                <a:pPr>
                  <a:lnSpc>
                    <a:spcPct val="170000"/>
                  </a:lnSpc>
                  <a:spcBef>
                    <a:spcPts val="600"/>
                  </a:spcBef>
                </a:pPr>
                <a:r>
                  <a:rPr lang="en-US" sz="1400" dirty="0">
                    <a:solidFill>
                      <a:srgbClr val="3A7CA5"/>
                    </a:solidFill>
                    <a:latin typeface="Liter" panose="02000503030000020004" pitchFamily="34" charset="0"/>
                    <a:ea typeface="Liter" panose="02000503030000020004" pitchFamily="34" charset="-122"/>
                    <a:cs typeface="Liter" panose="02000503030000020004" pitchFamily="34" charset="-120"/>
                  </a:rPr>
                  <a:t>DoLP偏振度越高 → 目标偏振响应越明显</a:t>
                </a:r>
                <a:endParaRPr lang="en-US" sz="1400" dirty="0">
                  <a:solidFill>
                    <a:srgbClr val="3A7CA5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endParaRPr>
              </a:p>
              <a:p>
                <a:pPr>
                  <a:lnSpc>
                    <a:spcPct val="170000"/>
                  </a:lnSpc>
                  <a:spcBef>
                    <a:spcPts val="600"/>
                  </a:spcBef>
                </a:pPr>
                <a:r>
                  <a:rPr lang="en-US" sz="1400" dirty="0">
                    <a:solidFill>
                      <a:srgbClr val="3A7CA5"/>
                    </a:solidFill>
                    <a:latin typeface="Liter" panose="02000503030000020004" pitchFamily="34" charset="0"/>
                    <a:ea typeface="Liter" panose="02000503030000020004" pitchFamily="34" charset="-122"/>
                    <a:cs typeface="Liter" panose="02000503030000020004" pitchFamily="34" charset="-120"/>
                    <a:sym typeface="+mn-ea"/>
                  </a:rPr>
                  <a:t>AoP</a:t>
                </a:r>
                <a:r>
                  <a:rPr lang="zh-CN" altLang="en-US" sz="1400" dirty="0">
                    <a:solidFill>
                      <a:srgbClr val="3A7CA5"/>
                    </a:solidFill>
                    <a:latin typeface="Liter" panose="02000503030000020004" pitchFamily="34" charset="0"/>
                    <a:ea typeface="宋体" panose="02010600030101010101" pitchFamily="2" charset="-122"/>
                    <a:cs typeface="Liter" panose="02000503030000020004" pitchFamily="34" charset="-120"/>
                    <a:sym typeface="+mn-ea"/>
                  </a:rPr>
                  <a:t>变化越稳定</a:t>
                </a:r>
                <a:r>
                  <a:rPr lang="en-US" sz="1400" dirty="0">
                    <a:solidFill>
                      <a:srgbClr val="3A7CA5"/>
                    </a:solidFill>
                    <a:latin typeface="Liter" panose="02000503030000020004" pitchFamily="34" charset="0"/>
                    <a:ea typeface="Liter" panose="02000503030000020004" pitchFamily="34" charset="-122"/>
                    <a:cs typeface="Liter" panose="02000503030000020004" pitchFamily="34" charset="-120"/>
                    <a:sym typeface="+mn-ea"/>
                  </a:rPr>
                  <a:t> → 目标</a:t>
                </a:r>
                <a:r>
                  <a:rPr lang="zh-CN" altLang="en-US" sz="1400" dirty="0">
                    <a:solidFill>
                      <a:srgbClr val="3A7CA5"/>
                    </a:solidFill>
                    <a:latin typeface="Liter" panose="02000503030000020004" pitchFamily="34" charset="0"/>
                    <a:ea typeface="宋体" panose="02010600030101010101" pitchFamily="2" charset="-122"/>
                    <a:cs typeface="Liter" panose="02000503030000020004" pitchFamily="34" charset="-120"/>
                    <a:sym typeface="+mn-ea"/>
                  </a:rPr>
                  <a:t>局部结构和散射方向具有更好的可解释性</a:t>
                </a:r>
                <a:endParaRPr lang="en-US" sz="1400" dirty="0">
                  <a:solidFill>
                    <a:srgbClr val="3A7CA5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endParaRPr>
              </a:p>
              <a:p>
                <a:pPr>
                  <a:lnSpc>
                    <a:spcPct val="170000"/>
                  </a:lnSpc>
                  <a:spcBef>
                    <a:spcPts val="600"/>
                  </a:spcBef>
                </a:pPr>
                <a:endParaRPr lang="en-US" sz="1400" dirty="0">
                  <a:solidFill>
                    <a:srgbClr val="3A7CA5"/>
                  </a:solidFill>
                  <a:latin typeface="Liter" panose="02000503030000020004" pitchFamily="34" charset="0"/>
                  <a:ea typeface="Liter" panose="02000503030000020004" pitchFamily="34" charset="-122"/>
                  <a:cs typeface="Liter" panose="02000503030000020004" pitchFamily="34" charset="-120"/>
                </a:endParaRPr>
              </a:p>
              <a:p>
                <a:pPr>
                  <a:lnSpc>
                    <a:spcPct val="170000"/>
                  </a:lnSpc>
                  <a:spcBef>
                    <a:spcPts val="600"/>
                  </a:spcBef>
                </a:pPr>
                <a:endParaRPr lang="en-US" sz="1600" dirty="0"/>
              </a:p>
            </p:txBody>
          </p:sp>
        </mc:Choice>
        <mc:Fallback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260600"/>
                <a:ext cx="6248400" cy="2574925"/>
              </a:xfrm>
              <a:prstGeom prst="rect">
                <a:avLst/>
              </a:prstGeom>
              <a:blipFill rotWithShape="1">
                <a:blip r:embed="rId1"/>
                <a:stretch>
                  <a:fillRect b="-15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762000" y="5172710"/>
            <a:ext cx="6816725" cy="254000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B2D5B">
                <a:alpha val="705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66800" y="5350510"/>
            <a:ext cx="4445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任意方向偏振重建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/>
              <p:cNvSpPr/>
              <p:nvPr/>
            </p:nvSpPr>
            <p:spPr>
              <a:xfrm>
                <a:off x="1066800" y="5782310"/>
                <a:ext cx="6883400" cy="17018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𝐼</m:t>
                          </m:r>
                        </m:e>
                        <m:sub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𝜃</m:t>
                          </m:r>
                        </m:sub>
                      </m:sSub>
                      <m:r>
                        <a:rPr lang="en-US" sz="1600" dirty="0">
                          <a:latin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lang="en-US" sz="1100" dirty="0">
                              <a:latin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sz="1100" dirty="0">
                              <a:latin typeface="Cambria Math" panose="02040503050406030204" charset="0"/>
                            </a:rPr>
                            <m:t>2</m:t>
                          </m:r>
                        </m:den>
                      </m:f>
                      <m:r>
                        <a:rPr lang="en-US" sz="1600" dirty="0">
                          <a:latin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𝑆</m:t>
                          </m:r>
                        </m:e>
                        <m:sub>
                          <m:r>
                            <a:rPr lang="en-US" sz="1100" dirty="0">
                              <a:latin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lang="en-US" sz="1600" dirty="0">
                          <a:latin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𝑆</m:t>
                          </m:r>
                        </m:e>
                        <m:sub>
                          <m:r>
                            <a:rPr lang="en-US" sz="1100" dirty="0"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charset="0"/>
                        </a:rPr>
                        <m:t>𝑐𝑜𝑠</m:t>
                      </m:r>
                      <m:r>
                        <a:rPr lang="en-US" sz="1600" dirty="0">
                          <a:latin typeface="Cambria Math" panose="02040503050406030204" charset="0"/>
                        </a:rPr>
                        <m:t>⁡</m:t>
                      </m:r>
                      <m:r>
                        <a:rPr lang="en-US" sz="1600" dirty="0">
                          <a:latin typeface="Cambria Math" panose="02040503050406030204" charset="0"/>
                        </a:rPr>
                        <m:t>2</m:t>
                      </m:r>
                      <m:r>
                        <a:rPr lang="en-US" sz="1600" i="1" dirty="0">
                          <a:latin typeface="Cambria Math" panose="02040503050406030204" charset="0"/>
                        </a:rPr>
                        <m:t>𝜃</m:t>
                      </m:r>
                      <m:r>
                        <a:rPr lang="en-US" sz="1600" dirty="0">
                          <a:latin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𝑆</m:t>
                          </m:r>
                        </m:e>
                        <m:sub>
                          <m:r>
                            <a:rPr lang="en-US" sz="1100" dirty="0">
                              <a:latin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charset="0"/>
                        </a:rPr>
                        <m:t>𝑠𝑖𝑛</m:t>
                      </m:r>
                      <m:r>
                        <a:rPr lang="en-US" sz="1600" dirty="0">
                          <a:latin typeface="Cambria Math" panose="02040503050406030204" charset="0"/>
                        </a:rPr>
                        <m:t>⁡</m:t>
                      </m:r>
                      <m:r>
                        <a:rPr lang="en-US" sz="1600" dirty="0">
                          <a:latin typeface="Cambria Math" panose="02040503050406030204" charset="0"/>
                        </a:rPr>
                        <m:t>2</m:t>
                      </m:r>
                      <m:r>
                        <a:rPr lang="en-US" sz="1600" i="1" dirty="0">
                          <a:latin typeface="Cambria Math" panose="02040503050406030204" charset="0"/>
                        </a:rPr>
                        <m:t>𝜃</m:t>
                      </m:r>
                      <m:r>
                        <a:rPr lang="en-US" sz="1600" dirty="0">
                          <a:latin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  <a:p>
                <a:pPr>
                  <a:lnSpc>
                    <a:spcPct val="170000"/>
                  </a:lnSpc>
                  <a:spcBef>
                    <a:spcPts val="800"/>
                  </a:spcBef>
                </a:pPr>
                <a:r>
                  <a:rPr lang="en-US" sz="1500" dirty="0">
                    <a:solidFill>
                      <a:srgbClr val="0F1B2D"/>
                    </a:solidFill>
                    <a:latin typeface="Liter" panose="02000503030000020004" pitchFamily="34" charset="0"/>
                    <a:ea typeface="Liter" panose="02000503030000020004" pitchFamily="34" charset="-122"/>
                    <a:cs typeface="Liter" panose="02000503030000020004" pitchFamily="34" charset="-120"/>
                  </a:rPr>
                  <a:t>通过重建不同偏振方向图像，获得多通道差异化信息：</a:t>
                </a:r>
                <a:endParaRPr lang="en-US" sz="1600" dirty="0"/>
              </a:p>
              <a:p>
                <a:pPr>
                  <a:lnSpc>
                    <a:spcPct val="170000"/>
                  </a:lnSpc>
                </a:pPr>
                <a:r>
                  <a:rPr lang="en-US" sz="1500" dirty="0">
                    <a:solidFill>
                      <a:srgbClr val="0F1B2D"/>
                    </a:solidFill>
                    <a:latin typeface="Liter" panose="02000503030000020004" pitchFamily="34" charset="0"/>
                    <a:ea typeface="Liter" panose="02000503030000020004" pitchFamily="34" charset="-122"/>
                    <a:cs typeface="Liter" panose="02000503030000020004" pitchFamily="34" charset="-120"/>
                  </a:rPr>
                  <a:t>• 每个通道展示不同的结构特征</a:t>
                </a:r>
                <a:endParaRPr lang="en-US" sz="1600" dirty="0"/>
              </a:p>
              <a:p>
                <a:pPr>
                  <a:lnSpc>
                    <a:spcPct val="170000"/>
                  </a:lnSpc>
                </a:pPr>
                <a:r>
                  <a:rPr lang="en-US" sz="1500" dirty="0">
                    <a:solidFill>
                      <a:srgbClr val="0F1B2D"/>
                    </a:solidFill>
                    <a:latin typeface="Liter" panose="02000503030000020004" pitchFamily="34" charset="0"/>
                    <a:ea typeface="Liter" panose="02000503030000020004" pitchFamily="34" charset="-122"/>
                    <a:cs typeface="Liter" panose="02000503030000020004" pitchFamily="34" charset="-120"/>
                  </a:rPr>
                  <a:t>• 偏振图像包含极其丰富的目标信息</a:t>
                </a:r>
                <a:endParaRPr lang="en-US" sz="1600" dirty="0"/>
              </a:p>
            </p:txBody>
          </p:sp>
        </mc:Choice>
        <mc:Fallback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5782310"/>
                <a:ext cx="6883400" cy="1701800"/>
              </a:xfrm>
              <a:prstGeom prst="rect">
                <a:avLst/>
              </a:prstGeom>
              <a:blipFill rotWithShape="1">
                <a:blip r:embed="rId2"/>
                <a:stretch>
                  <a:fillRect b="-5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9"/>
          <p:cNvSpPr/>
          <p:nvPr/>
        </p:nvSpPr>
        <p:spPr>
          <a:xfrm>
            <a:off x="7950200" y="17780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三通道偏振重建结果</a:t>
            </a:r>
            <a:r>
              <a:rPr lang="zh-CN" altLang="en-US" sz="2000" dirty="0">
                <a:solidFill>
                  <a:srgbClr val="0B2D5B"/>
                </a:solidFill>
                <a:latin typeface="Liter" panose="02000503030000020004" pitchFamily="34" charset="0"/>
                <a:ea typeface="宋体" panose="02010600030101010101" pitchFamily="2" charset="-122"/>
                <a:cs typeface="Liter" panose="02000503030000020004" pitchFamily="34" charset="-120"/>
              </a:rPr>
              <a:t>：</a:t>
            </a:r>
            <a:endParaRPr lang="zh-CN" altLang="en-US" sz="2000" dirty="0">
              <a:solidFill>
                <a:srgbClr val="0B2D5B"/>
              </a:solidFill>
              <a:latin typeface="Liter" panose="02000503030000020004" pitchFamily="34" charset="0"/>
              <a:ea typeface="宋体" panose="02010600030101010101" pitchFamily="2" charset="-122"/>
              <a:cs typeface="Liter" panose="02000503030000020004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702550" y="7555230"/>
            <a:ext cx="81788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偏振重建后多通道图像差异显著，为后续深度学习提供高质量输入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62000" y="87884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15" name="Text 12"/>
          <p:cNvSpPr/>
          <p:nvPr/>
        </p:nvSpPr>
        <p:spPr>
          <a:xfrm>
            <a:off x="14732000" y="88392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10</a:t>
            </a:r>
            <a:endParaRPr lang="en-US" sz="1300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200" y="2428875"/>
            <a:ext cx="7683500" cy="473075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880" y="1989455"/>
            <a:ext cx="2489200" cy="15455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 产品与技术方案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270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RDN残差稠密网络：深度学习增强微藻边缘纹理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762000" y="1651000"/>
            <a:ext cx="7112000" cy="355600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B2D5B">
                <a:alpha val="705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66800" y="1879600"/>
            <a:ext cx="381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RDN网络架构优势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6800" y="2336800"/>
            <a:ext cx="6502400" cy="266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</a:t>
            </a:r>
            <a:r>
              <a:rPr lang="en-US" sz="1600" b="1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残差稠密块</a:t>
            </a: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：多层卷积 + 稠密连接，充分提取层次特征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</a:t>
            </a:r>
            <a:r>
              <a:rPr lang="en-US" sz="1600" b="1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全局特征融合</a:t>
            </a: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：所有层级特征加权融合，信息无损传递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</a:t>
            </a:r>
            <a:r>
              <a:rPr lang="en-US" sz="1600" b="1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适合微藻场景</a:t>
            </a: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：擅长捕捉边界轮廓、纹理细节和结构信息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RDN处理后，微藻的轮廓、细胞壁纹理、群体结构被深度展示，显著提升后续识别精度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55000" y="1651000"/>
            <a:ext cx="7239000" cy="355600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B2D5B">
                <a:alpha val="705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59800" y="1879600"/>
            <a:ext cx="4445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图像增强与质量控制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/>
              <p:cNvSpPr/>
              <p:nvPr/>
            </p:nvSpPr>
            <p:spPr>
              <a:xfrm>
                <a:off x="8559800" y="2336800"/>
                <a:ext cx="6629400" cy="1016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70000"/>
                  </a:lnSpc>
                </a:pPr>
                <a:r>
                  <a:rPr lang="en-US" sz="1500" b="1" dirty="0">
                    <a:solidFill>
                      <a:srgbClr val="0F1B2D"/>
                    </a:solidFill>
                    <a:latin typeface="Liter" panose="02000503030000020004" pitchFamily="34" charset="0"/>
                    <a:ea typeface="Liter" panose="02000503030000020004" pitchFamily="34" charset="-122"/>
                    <a:cs typeface="Liter" panose="02000503030000020004" pitchFamily="34" charset="-120"/>
                  </a:rPr>
                  <a:t>去散射增强</a:t>
                </a:r>
                <a:endParaRPr lang="en-US" sz="1600" dirty="0"/>
              </a:p>
              <a:p>
                <a:pPr algn="l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𝐼</m:t>
                          </m:r>
                        </m:e>
                        <m:sub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𝑒</m:t>
                          </m:r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𝑛</m:t>
                          </m:r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ℎ</m:t>
                          </m:r>
                        </m:sub>
                      </m:sSub>
                      <m:r>
                        <a:rPr lang="en-US" sz="1600" dirty="0">
                          <a:latin typeface="Cambria Math" panose="02040503050406030204" charset="0"/>
                        </a:rPr>
                        <m:t>=</m:t>
                      </m:r>
                      <m:r>
                        <a:rPr lang="en-US" sz="1600" dirty="0">
                          <a:latin typeface="Cambria Math" panose="02040503050406030204" charset="0"/>
                        </a:rPr>
                        <m:t>𝑁𝑜𝑟𝑚</m:t>
                      </m:r>
                      <m:r>
                        <a:rPr lang="en-US" sz="1600" dirty="0">
                          <a:latin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𝑆</m:t>
                          </m:r>
                        </m:e>
                        <m:sub>
                          <m:r>
                            <a:rPr lang="en-US" sz="1100" dirty="0">
                              <a:latin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lang="en-US" sz="1600" dirty="0">
                          <a:latin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𝜆</m:t>
                          </m:r>
                        </m:e>
                        <m:sub>
                          <m:r>
                            <a:rPr lang="en-US" sz="1100" dirty="0">
                              <a:latin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sz="1600" dirty="0">
                          <a:latin typeface="Cambria Math" panose="02040503050406030204" charset="0"/>
                        </a:rPr>
                        <m:t>⋅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𝑆</m:t>
                          </m:r>
                        </m:e>
                        <m:sub>
                          <m:r>
                            <a:rPr lang="en-US" sz="1100" dirty="0">
                              <a:latin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lang="en-US" sz="1600" dirty="0">
                          <a:latin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𝜆</m:t>
                          </m:r>
                        </m:e>
                        <m:sub>
                          <m:r>
                            <a:rPr lang="en-US" sz="1100" dirty="0">
                              <a:latin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sz="1600" dirty="0">
                          <a:latin typeface="Cambria Math" panose="02040503050406030204" charset="0"/>
                        </a:rPr>
                        <m:t>⋅</m:t>
                      </m:r>
                      <m:r>
                        <a:rPr lang="en-US" sz="1600" i="1" dirty="0">
                          <a:latin typeface="Cambria Math" panose="02040503050406030204" charset="0"/>
                        </a:rPr>
                        <m:t>𝐴</m:t>
                      </m:r>
                      <m:r>
                        <a:rPr lang="en-US" sz="1600" i="1" dirty="0">
                          <a:latin typeface="Cambria Math" panose="02040503050406030204" charset="0"/>
                        </a:rPr>
                        <m:t>𝑜</m:t>
                      </m:r>
                      <m:r>
                        <a:rPr lang="en-US" sz="1600" i="1" dirty="0">
                          <a:latin typeface="Cambria Math" panose="02040503050406030204" charset="0"/>
                        </a:rPr>
                        <m:t>𝑃</m:t>
                      </m:r>
                      <m:r>
                        <a:rPr lang="en-US" sz="1600" dirty="0">
                          <a:latin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𝜆</m:t>
                          </m:r>
                        </m:e>
                        <m:sub>
                          <m:r>
                            <a:rPr lang="en-US" sz="1100" dirty="0">
                              <a:latin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sz="1600" dirty="0">
                          <a:latin typeface="Cambria Math" panose="02040503050406030204" charset="0"/>
                        </a:rPr>
                        <m:t>⋅</m:t>
                      </m:r>
                      <m:r>
                        <a:rPr lang="en-US" sz="1600" i="1" dirty="0">
                          <a:latin typeface="Cambria Math" panose="02040503050406030204" charset="0"/>
                        </a:rPr>
                        <m:t>𝐷</m:t>
                      </m:r>
                      <m:r>
                        <a:rPr lang="en-US" sz="1600" i="1" dirty="0">
                          <a:latin typeface="Cambria Math" panose="02040503050406030204" charset="0"/>
                        </a:rPr>
                        <m:t>𝑜</m:t>
                      </m:r>
                      <m:r>
                        <a:rPr lang="en-US" sz="1600" i="1" dirty="0">
                          <a:latin typeface="Cambria Math" panose="02040503050406030204" charset="0"/>
                        </a:rPr>
                        <m:t>𝐿</m:t>
                      </m:r>
                      <m:r>
                        <a:rPr lang="en-US" sz="1600" i="1" dirty="0">
                          <a:latin typeface="Cambria Math" panose="02040503050406030204" charset="0"/>
                        </a:rPr>
                        <m:t>𝑃</m:t>
                      </m:r>
                      <m:r>
                        <a:rPr lang="en-US" sz="1600" dirty="0">
                          <a:latin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800" y="2336800"/>
                <a:ext cx="6629400" cy="10160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9"/>
          <p:cNvSpPr/>
          <p:nvPr/>
        </p:nvSpPr>
        <p:spPr>
          <a:xfrm>
            <a:off x="8559800" y="3429000"/>
            <a:ext cx="66294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保留原始光强信息，同时提高偏振响应强烈的藻体边缘和颗粒结构，从三个通道拼出质量最好的图像。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质量评分Q</a:t>
            </a:r>
            <a:r>
              <a:rPr lang="en-US" sz="15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筛选达标图像送入YOLO，自动过滤低质数据。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7884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14732000" y="88392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11</a:t>
            </a:r>
            <a:endParaRPr lang="en-US" sz="13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3530" y="5267325"/>
            <a:ext cx="6233795" cy="303784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5786755" y="8362950"/>
            <a:ext cx="2887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偏振重建</a:t>
            </a:r>
            <a:r>
              <a:rPr lang="en-US" altLang="zh-CN"/>
              <a:t>RDN</a:t>
            </a:r>
            <a:r>
              <a:rPr lang="zh-CN" altLang="en-US"/>
              <a:t>网路原理图</a:t>
            </a:r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 产品与技术方案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270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RDN残差稠密网络：深度学习增强微藻边缘纹理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762000" y="5588000"/>
            <a:ext cx="14732000" cy="2540000"/>
          </a:xfrm>
          <a:prstGeom prst="rect">
            <a:avLst/>
          </a:prstGeom>
          <a:solidFill>
            <a:srgbClr val="0B2D5B"/>
          </a:solidFill>
        </p:spPr>
      </p:sp>
      <p:sp>
        <p:nvSpPr>
          <p:cNvPr id="13" name="Text 11"/>
          <p:cNvSpPr/>
          <p:nvPr/>
        </p:nvSpPr>
        <p:spPr>
          <a:xfrm>
            <a:off x="1270000" y="57912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技术创新点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70000" y="6400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00C9A7"/>
          </a:solidFill>
        </p:spPr>
      </p:sp>
      <p:sp>
        <p:nvSpPr>
          <p:cNvPr id="15" name="Text 13"/>
          <p:cNvSpPr/>
          <p:nvPr/>
        </p:nvSpPr>
        <p:spPr>
          <a:xfrm>
            <a:off x="1701800" y="63500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面向微藻识别的偏振图像处理流程，使用RDN对边缘结构等关键信息进行深度学习型恢复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74000" y="6400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00C9A7"/>
          </a:solidFill>
        </p:spPr>
      </p:sp>
      <p:sp>
        <p:nvSpPr>
          <p:cNvPr id="17" name="Text 15"/>
          <p:cNvSpPr/>
          <p:nvPr/>
        </p:nvSpPr>
        <p:spPr>
          <a:xfrm>
            <a:off x="8305800" y="63500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体现偏振信息带来的算法增益，相比传统亮度图像，识别准确率显著提升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70000" y="7315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00C9A7"/>
          </a:solidFill>
        </p:spPr>
      </p:sp>
      <p:sp>
        <p:nvSpPr>
          <p:cNvPr id="19" name="Text 17"/>
          <p:cNvSpPr/>
          <p:nvPr/>
        </p:nvSpPr>
        <p:spPr>
          <a:xfrm>
            <a:off x="1701800" y="7264400"/>
            <a:ext cx="5588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质量控制机制确保仅高质量图像进入识别流程，提升系统鲁棒性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7884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14732000" y="88392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11</a:t>
            </a:r>
            <a:endParaRPr lang="en-US" sz="13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9025" y="1588770"/>
            <a:ext cx="6255385" cy="38576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 产品与技术方案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270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YOLO智能识别：实时藻种分类与数量统计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762000" y="1651000"/>
            <a:ext cx="7112000" cy="330200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B2D5B">
                <a:alpha val="705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66800" y="1879600"/>
            <a:ext cx="381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YOLOv8 目标检测模型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6800" y="2336800"/>
            <a:ext cx="6502400" cy="241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</a:t>
            </a:r>
            <a:r>
              <a:rPr lang="en-US" sz="1600" b="1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数据集</a:t>
            </a: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：水槽实验 + 真实水样 + 公开图像，约300张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</a:t>
            </a:r>
            <a:r>
              <a:rPr lang="en-US" sz="1600" b="1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标签体系</a:t>
            </a: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：目标藻种、聚集程度、图像质量等级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</a:t>
            </a:r>
            <a:r>
              <a:rPr lang="en-US" sz="1600" b="1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输出结果</a:t>
            </a: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：藻种类别、数量、聚集程度、短期增长趋势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</a:t>
            </a:r>
            <a:r>
              <a:rPr lang="en-US" sz="1600" b="1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浓度估算</a:t>
            </a: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：结合视场面积与景深计算相对丰度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采用时间窗平均降低单帧波动，增长速率实时计算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55000" y="1651000"/>
            <a:ext cx="7239000" cy="3302000"/>
          </a:xfrm>
          <a:prstGeom prst="rect">
            <a:avLst/>
          </a:prstGeom>
          <a:solidFill>
            <a:srgbClr val="0B2D5B"/>
          </a:solidFill>
        </p:spPr>
      </p:sp>
      <p:sp>
        <p:nvSpPr>
          <p:cNvPr id="9" name="Text 7"/>
          <p:cNvSpPr/>
          <p:nvPr/>
        </p:nvSpPr>
        <p:spPr>
          <a:xfrm>
            <a:off x="8636000" y="19050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~0.7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36000" y="2667000"/>
            <a:ext cx="3048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平均识别准确率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938000" y="19050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300/30s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938000" y="2667000"/>
            <a:ext cx="3048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处理速度（张/秒）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36000" y="33020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4+1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36000" y="4064000"/>
            <a:ext cx="3048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藻种 + 无机物分类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938000" y="3429000"/>
            <a:ext cx="3048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部分藻种准确率优秀，一种因数据集较小待优化，持续迭代中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6255" y="8039100"/>
            <a:ext cx="14732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模型轻量且准确，</a:t>
            </a:r>
            <a:r>
              <a:rPr lang="en-US" sz="1600" b="1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实时处理满足现场监测需求</a:t>
            </a: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，已训练出适合微藻的专用检测模型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87884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14732000" y="88392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12</a:t>
            </a:r>
            <a:endParaRPr lang="en-US" sz="1300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5540" y="5245100"/>
            <a:ext cx="5853430" cy="2891790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5172710" y="4953000"/>
            <a:ext cx="5418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/>
              <a:t>YOLO </a:t>
            </a:r>
            <a:r>
              <a:rPr lang="zh-CN" altLang="en-US"/>
              <a:t>模型识别与预警输出流程：</a:t>
            </a:r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 产品与技术方案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软件平台与数据闭环：系统越用越准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762000" y="1651000"/>
            <a:ext cx="7112000" cy="355600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B2D5B">
                <a:alpha val="705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66800" y="1879600"/>
            <a:ext cx="381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预警服务平台功能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66800" y="2413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192088"/>
                </a:lnTo>
                <a:cubicBezTo>
                  <a:pt x="0" y="211351"/>
                  <a:pt x="15662" y="227013"/>
                  <a:pt x="34925" y="227013"/>
                </a:cubicBezTo>
                <a:lnTo>
                  <a:pt x="113506" y="227013"/>
                </a:lnTo>
                <a:lnTo>
                  <a:pt x="104775" y="253206"/>
                </a:lnTo>
                <a:lnTo>
                  <a:pt x="65484" y="253206"/>
                </a:lnTo>
                <a:cubicBezTo>
                  <a:pt x="58227" y="253206"/>
                  <a:pt x="52388" y="259045"/>
                  <a:pt x="52388" y="266303"/>
                </a:cubicBezTo>
                <a:cubicBezTo>
                  <a:pt x="52388" y="273561"/>
                  <a:pt x="58227" y="279400"/>
                  <a:pt x="65484" y="279400"/>
                </a:cubicBezTo>
                <a:lnTo>
                  <a:pt x="213916" y="279400"/>
                </a:lnTo>
                <a:cubicBezTo>
                  <a:pt x="221173" y="279400"/>
                  <a:pt x="227013" y="273561"/>
                  <a:pt x="227013" y="266303"/>
                </a:cubicBezTo>
                <a:cubicBezTo>
                  <a:pt x="227013" y="259045"/>
                  <a:pt x="221173" y="253206"/>
                  <a:pt x="213916" y="253206"/>
                </a:cubicBezTo>
                <a:lnTo>
                  <a:pt x="174625" y="253206"/>
                </a:lnTo>
                <a:lnTo>
                  <a:pt x="165894" y="227013"/>
                </a:lnTo>
                <a:lnTo>
                  <a:pt x="244475" y="227013"/>
                </a:lnTo>
                <a:cubicBezTo>
                  <a:pt x="263738" y="227013"/>
                  <a:pt x="279400" y="211351"/>
                  <a:pt x="279400" y="192088"/>
                </a:cubicBezTo>
                <a:lnTo>
                  <a:pt x="279400" y="52388"/>
                </a:lnTo>
                <a:cubicBezTo>
                  <a:pt x="279400" y="33124"/>
                  <a:pt x="263738" y="17463"/>
                  <a:pt x="244475" y="17463"/>
                </a:cubicBezTo>
                <a:lnTo>
                  <a:pt x="34925" y="17463"/>
                </a:lnTo>
                <a:close/>
                <a:moveTo>
                  <a:pt x="52388" y="52388"/>
                </a:moveTo>
                <a:lnTo>
                  <a:pt x="227013" y="52388"/>
                </a:lnTo>
                <a:cubicBezTo>
                  <a:pt x="236671" y="52388"/>
                  <a:pt x="244475" y="60191"/>
                  <a:pt x="244475" y="69850"/>
                </a:cubicBezTo>
                <a:lnTo>
                  <a:pt x="244475" y="157163"/>
                </a:lnTo>
                <a:cubicBezTo>
                  <a:pt x="244475" y="166821"/>
                  <a:pt x="236671" y="174625"/>
                  <a:pt x="227013" y="174625"/>
                </a:cubicBezTo>
                <a:lnTo>
                  <a:pt x="52388" y="174625"/>
                </a:lnTo>
                <a:cubicBezTo>
                  <a:pt x="42729" y="174625"/>
                  <a:pt x="34925" y="166821"/>
                  <a:pt x="34925" y="157163"/>
                </a:cubicBezTo>
                <a:lnTo>
                  <a:pt x="34925" y="69850"/>
                </a:lnTo>
                <a:cubicBezTo>
                  <a:pt x="34925" y="60191"/>
                  <a:pt x="42729" y="52388"/>
                  <a:pt x="52388" y="52388"/>
                </a:cubicBezTo>
                <a:close/>
              </a:path>
            </a:pathLst>
          </a:custGeom>
          <a:solidFill>
            <a:srgbClr val="00C9A7"/>
          </a:solidFill>
        </p:spPr>
      </p:sp>
      <p:sp>
        <p:nvSpPr>
          <p:cNvPr id="8" name="Text 6"/>
          <p:cNvSpPr/>
          <p:nvPr/>
        </p:nvSpPr>
        <p:spPr>
          <a:xfrm>
            <a:off x="1473200" y="23622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设备管理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84263" y="28448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  <a:moveTo>
                  <a:pt x="69850" y="61119"/>
                </a:moveTo>
                <a:cubicBezTo>
                  <a:pt x="84307" y="61119"/>
                  <a:pt x="96044" y="72856"/>
                  <a:pt x="96044" y="87313"/>
                </a:cubicBezTo>
                <a:cubicBezTo>
                  <a:pt x="96044" y="101769"/>
                  <a:pt x="84307" y="113506"/>
                  <a:pt x="69850" y="113506"/>
                </a:cubicBezTo>
                <a:cubicBezTo>
                  <a:pt x="55393" y="113506"/>
                  <a:pt x="43656" y="101769"/>
                  <a:pt x="43656" y="87313"/>
                </a:cubicBezTo>
                <a:cubicBezTo>
                  <a:pt x="43656" y="72856"/>
                  <a:pt x="55393" y="61119"/>
                  <a:pt x="69850" y="61119"/>
                </a:cubicBezTo>
                <a:close/>
                <a:moveTo>
                  <a:pt x="148431" y="122238"/>
                </a:moveTo>
                <a:cubicBezTo>
                  <a:pt x="153015" y="122238"/>
                  <a:pt x="157217" y="124639"/>
                  <a:pt x="159618" y="128513"/>
                </a:cubicBezTo>
                <a:lnTo>
                  <a:pt x="207640" y="207094"/>
                </a:lnTo>
                <a:cubicBezTo>
                  <a:pt x="210096" y="211133"/>
                  <a:pt x="210205" y="216208"/>
                  <a:pt x="207913" y="220355"/>
                </a:cubicBezTo>
                <a:cubicBezTo>
                  <a:pt x="205621" y="224502"/>
                  <a:pt x="201201" y="227013"/>
                  <a:pt x="196453" y="227013"/>
                </a:cubicBezTo>
                <a:lnTo>
                  <a:pt x="48022" y="227013"/>
                </a:lnTo>
                <a:cubicBezTo>
                  <a:pt x="43165" y="227013"/>
                  <a:pt x="38636" y="224284"/>
                  <a:pt x="36398" y="219973"/>
                </a:cubicBezTo>
                <a:cubicBezTo>
                  <a:pt x="34161" y="215662"/>
                  <a:pt x="34488" y="210423"/>
                  <a:pt x="37272" y="206439"/>
                </a:cubicBezTo>
                <a:lnTo>
                  <a:pt x="67831" y="162783"/>
                </a:lnTo>
                <a:cubicBezTo>
                  <a:pt x="70287" y="159291"/>
                  <a:pt x="74270" y="157217"/>
                  <a:pt x="78581" y="157217"/>
                </a:cubicBezTo>
                <a:cubicBezTo>
                  <a:pt x="82892" y="157217"/>
                  <a:pt x="86876" y="159291"/>
                  <a:pt x="89332" y="162783"/>
                </a:cubicBezTo>
                <a:lnTo>
                  <a:pt x="103738" y="183411"/>
                </a:lnTo>
                <a:lnTo>
                  <a:pt x="137244" y="128568"/>
                </a:lnTo>
                <a:cubicBezTo>
                  <a:pt x="139645" y="124693"/>
                  <a:pt x="143847" y="122292"/>
                  <a:pt x="148431" y="122292"/>
                </a:cubicBezTo>
                <a:close/>
              </a:path>
            </a:pathLst>
          </a:custGeom>
          <a:solidFill>
            <a:srgbClr val="00C9A7"/>
          </a:solidFill>
        </p:spPr>
      </p:sp>
      <p:sp>
        <p:nvSpPr>
          <p:cNvPr id="10" name="Text 8"/>
          <p:cNvSpPr/>
          <p:nvPr/>
        </p:nvSpPr>
        <p:spPr>
          <a:xfrm>
            <a:off x="1473200" y="27940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结果展示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84263" y="32766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122238" y="0"/>
                </a:moveTo>
                <a:cubicBezTo>
                  <a:pt x="112579" y="0"/>
                  <a:pt x="104775" y="7804"/>
                  <a:pt x="104775" y="17463"/>
                </a:cubicBezTo>
                <a:lnTo>
                  <a:pt x="104775" y="19209"/>
                </a:lnTo>
                <a:cubicBezTo>
                  <a:pt x="64939" y="27285"/>
                  <a:pt x="34925" y="62538"/>
                  <a:pt x="34925" y="104775"/>
                </a:cubicBezTo>
                <a:lnTo>
                  <a:pt x="34925" y="116617"/>
                </a:lnTo>
                <a:cubicBezTo>
                  <a:pt x="34925" y="142865"/>
                  <a:pt x="25975" y="168349"/>
                  <a:pt x="9604" y="188868"/>
                </a:cubicBezTo>
                <a:lnTo>
                  <a:pt x="4256" y="195525"/>
                </a:lnTo>
                <a:cubicBezTo>
                  <a:pt x="1473" y="198963"/>
                  <a:pt x="0" y="203220"/>
                  <a:pt x="0" y="207640"/>
                </a:cubicBezTo>
                <a:cubicBezTo>
                  <a:pt x="0" y="218336"/>
                  <a:pt x="8677" y="227013"/>
                  <a:pt x="19372" y="227013"/>
                </a:cubicBezTo>
                <a:lnTo>
                  <a:pt x="225048" y="227013"/>
                </a:lnTo>
                <a:cubicBezTo>
                  <a:pt x="235744" y="227013"/>
                  <a:pt x="244420" y="218336"/>
                  <a:pt x="244420" y="207640"/>
                </a:cubicBezTo>
                <a:cubicBezTo>
                  <a:pt x="244420" y="203220"/>
                  <a:pt x="242947" y="198963"/>
                  <a:pt x="240164" y="195525"/>
                </a:cubicBezTo>
                <a:lnTo>
                  <a:pt x="234816" y="188868"/>
                </a:lnTo>
                <a:cubicBezTo>
                  <a:pt x="218500" y="168349"/>
                  <a:pt x="209550" y="142865"/>
                  <a:pt x="209550" y="116617"/>
                </a:cubicBezTo>
                <a:lnTo>
                  <a:pt x="209550" y="104775"/>
                </a:lnTo>
                <a:cubicBezTo>
                  <a:pt x="209550" y="62538"/>
                  <a:pt x="179536" y="27285"/>
                  <a:pt x="139700" y="19209"/>
                </a:cubicBezTo>
                <a:lnTo>
                  <a:pt x="139700" y="17462"/>
                </a:lnTo>
                <a:cubicBezTo>
                  <a:pt x="139700" y="7804"/>
                  <a:pt x="131896" y="0"/>
                  <a:pt x="122238" y="0"/>
                </a:cubicBezTo>
                <a:close/>
                <a:moveTo>
                  <a:pt x="88404" y="253206"/>
                </a:moveTo>
                <a:cubicBezTo>
                  <a:pt x="92278" y="268268"/>
                  <a:pt x="105976" y="279400"/>
                  <a:pt x="122238" y="279400"/>
                </a:cubicBezTo>
                <a:cubicBezTo>
                  <a:pt x="138499" y="279400"/>
                  <a:pt x="152197" y="268268"/>
                  <a:pt x="156071" y="253206"/>
                </a:cubicBezTo>
                <a:lnTo>
                  <a:pt x="88404" y="253206"/>
                </a:lnTo>
                <a:close/>
              </a:path>
            </a:pathLst>
          </a:custGeom>
          <a:solidFill>
            <a:srgbClr val="00C9A7"/>
          </a:solidFill>
        </p:spPr>
      </p:sp>
      <p:sp>
        <p:nvSpPr>
          <p:cNvPr id="12" name="Text 10"/>
          <p:cNvSpPr/>
          <p:nvPr/>
        </p:nvSpPr>
        <p:spPr>
          <a:xfrm>
            <a:off x="1473200" y="32258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风险预警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84263" y="37084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44475" y="112306"/>
                </a:moveTo>
                <a:cubicBezTo>
                  <a:pt x="236399" y="117654"/>
                  <a:pt x="227122" y="121965"/>
                  <a:pt x="217463" y="125403"/>
                </a:cubicBezTo>
                <a:cubicBezTo>
                  <a:pt x="191815" y="134570"/>
                  <a:pt x="158145" y="139700"/>
                  <a:pt x="122238" y="139700"/>
                </a:cubicBezTo>
                <a:cubicBezTo>
                  <a:pt x="86330" y="139700"/>
                  <a:pt x="52606" y="134516"/>
                  <a:pt x="27012" y="125403"/>
                </a:cubicBezTo>
                <a:cubicBezTo>
                  <a:pt x="17408" y="121965"/>
                  <a:pt x="8076" y="117654"/>
                  <a:pt x="0" y="112306"/>
                </a:cubicBezTo>
                <a:lnTo>
                  <a:pt x="0" y="157163"/>
                </a:lnTo>
                <a:cubicBezTo>
                  <a:pt x="0" y="181283"/>
                  <a:pt x="54734" y="200819"/>
                  <a:pt x="122238" y="200819"/>
                </a:cubicBezTo>
                <a:cubicBezTo>
                  <a:pt x="189741" y="200819"/>
                  <a:pt x="244475" y="181283"/>
                  <a:pt x="244475" y="157163"/>
                </a:cubicBezTo>
                <a:lnTo>
                  <a:pt x="244475" y="112306"/>
                </a:lnTo>
                <a:close/>
                <a:moveTo>
                  <a:pt x="244475" y="69850"/>
                </a:moveTo>
                <a:lnTo>
                  <a:pt x="244475" y="43656"/>
                </a:lnTo>
                <a:cubicBezTo>
                  <a:pt x="244475" y="19536"/>
                  <a:pt x="189741" y="0"/>
                  <a:pt x="122238" y="0"/>
                </a:cubicBezTo>
                <a:cubicBezTo>
                  <a:pt x="54734" y="0"/>
                  <a:pt x="0" y="19536"/>
                  <a:pt x="0" y="43656"/>
                </a:cubicBezTo>
                <a:lnTo>
                  <a:pt x="0" y="69850"/>
                </a:lnTo>
                <a:cubicBezTo>
                  <a:pt x="0" y="93970"/>
                  <a:pt x="54734" y="113506"/>
                  <a:pt x="122238" y="113506"/>
                </a:cubicBezTo>
                <a:cubicBezTo>
                  <a:pt x="189741" y="113506"/>
                  <a:pt x="244475" y="93970"/>
                  <a:pt x="244475" y="69850"/>
                </a:cubicBezTo>
                <a:close/>
                <a:moveTo>
                  <a:pt x="217463" y="212715"/>
                </a:moveTo>
                <a:cubicBezTo>
                  <a:pt x="191869" y="221828"/>
                  <a:pt x="158199" y="227013"/>
                  <a:pt x="122238" y="227013"/>
                </a:cubicBezTo>
                <a:cubicBezTo>
                  <a:pt x="86276" y="227013"/>
                  <a:pt x="52606" y="221828"/>
                  <a:pt x="27012" y="212715"/>
                </a:cubicBezTo>
                <a:cubicBezTo>
                  <a:pt x="17408" y="209277"/>
                  <a:pt x="8076" y="204966"/>
                  <a:pt x="0" y="199618"/>
                </a:cubicBezTo>
                <a:lnTo>
                  <a:pt x="0" y="235744"/>
                </a:lnTo>
                <a:cubicBezTo>
                  <a:pt x="0" y="259864"/>
                  <a:pt x="54734" y="279400"/>
                  <a:pt x="122238" y="279400"/>
                </a:cubicBezTo>
                <a:cubicBezTo>
                  <a:pt x="189741" y="279400"/>
                  <a:pt x="244475" y="259864"/>
                  <a:pt x="244475" y="235744"/>
                </a:cubicBezTo>
                <a:lnTo>
                  <a:pt x="244475" y="199618"/>
                </a:lnTo>
                <a:cubicBezTo>
                  <a:pt x="236399" y="204966"/>
                  <a:pt x="227122" y="209277"/>
                  <a:pt x="217463" y="212715"/>
                </a:cubicBezTo>
                <a:close/>
              </a:path>
            </a:pathLst>
          </a:custGeom>
          <a:solidFill>
            <a:srgbClr val="00C9A7"/>
          </a:solidFill>
        </p:spPr>
      </p:sp>
      <p:sp>
        <p:nvSpPr>
          <p:cNvPr id="14" name="Text 12"/>
          <p:cNvSpPr/>
          <p:nvPr/>
        </p:nvSpPr>
        <p:spPr>
          <a:xfrm>
            <a:off x="1473200" y="36576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数据汇流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01725" y="41402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0" y="34925"/>
                </a:moveTo>
                <a:cubicBezTo>
                  <a:pt x="0" y="15662"/>
                  <a:pt x="15662" y="0"/>
                  <a:pt x="34925" y="0"/>
                </a:cubicBezTo>
                <a:lnTo>
                  <a:pt x="116508" y="0"/>
                </a:lnTo>
                <a:cubicBezTo>
                  <a:pt x="125785" y="0"/>
                  <a:pt x="134680" y="3656"/>
                  <a:pt x="141228" y="10205"/>
                </a:cubicBezTo>
                <a:lnTo>
                  <a:pt x="199345" y="68377"/>
                </a:lnTo>
                <a:cubicBezTo>
                  <a:pt x="205894" y="74925"/>
                  <a:pt x="209550" y="83820"/>
                  <a:pt x="209550" y="93097"/>
                </a:cubicBezTo>
                <a:lnTo>
                  <a:pt x="209550" y="244475"/>
                </a:lnTo>
                <a:cubicBezTo>
                  <a:pt x="209550" y="263738"/>
                  <a:pt x="193888" y="279400"/>
                  <a:pt x="174625" y="279400"/>
                </a:cubicBezTo>
                <a:lnTo>
                  <a:pt x="34925" y="279400"/>
                </a:lnTo>
                <a:cubicBezTo>
                  <a:pt x="15662" y="279400"/>
                  <a:pt x="0" y="263738"/>
                  <a:pt x="0" y="244475"/>
                </a:cubicBezTo>
                <a:lnTo>
                  <a:pt x="0" y="34925"/>
                </a:lnTo>
                <a:close/>
                <a:moveTo>
                  <a:pt x="113506" y="31924"/>
                </a:moveTo>
                <a:lnTo>
                  <a:pt x="113506" y="82947"/>
                </a:lnTo>
                <a:cubicBezTo>
                  <a:pt x="113506" y="90205"/>
                  <a:pt x="119345" y="96044"/>
                  <a:pt x="126603" y="96044"/>
                </a:cubicBezTo>
                <a:lnTo>
                  <a:pt x="177626" y="96044"/>
                </a:lnTo>
                <a:lnTo>
                  <a:pt x="113506" y="31924"/>
                </a:lnTo>
                <a:close/>
                <a:moveTo>
                  <a:pt x="65484" y="139700"/>
                </a:moveTo>
                <a:cubicBezTo>
                  <a:pt x="58227" y="139700"/>
                  <a:pt x="52388" y="145539"/>
                  <a:pt x="52388" y="152797"/>
                </a:cubicBezTo>
                <a:cubicBezTo>
                  <a:pt x="52388" y="160055"/>
                  <a:pt x="58227" y="165894"/>
                  <a:pt x="65484" y="165894"/>
                </a:cubicBezTo>
                <a:lnTo>
                  <a:pt x="144066" y="165894"/>
                </a:lnTo>
                <a:cubicBezTo>
                  <a:pt x="151323" y="165894"/>
                  <a:pt x="157163" y="160055"/>
                  <a:pt x="157163" y="152797"/>
                </a:cubicBezTo>
                <a:cubicBezTo>
                  <a:pt x="157163" y="145539"/>
                  <a:pt x="151323" y="139700"/>
                  <a:pt x="144066" y="139700"/>
                </a:cubicBezTo>
                <a:lnTo>
                  <a:pt x="65484" y="139700"/>
                </a:lnTo>
                <a:close/>
                <a:moveTo>
                  <a:pt x="65484" y="192088"/>
                </a:moveTo>
                <a:cubicBezTo>
                  <a:pt x="58227" y="192088"/>
                  <a:pt x="52388" y="197927"/>
                  <a:pt x="52388" y="205184"/>
                </a:cubicBezTo>
                <a:cubicBezTo>
                  <a:pt x="52388" y="212442"/>
                  <a:pt x="58227" y="218281"/>
                  <a:pt x="65484" y="218281"/>
                </a:cubicBezTo>
                <a:lnTo>
                  <a:pt x="144066" y="218281"/>
                </a:lnTo>
                <a:cubicBezTo>
                  <a:pt x="151323" y="218281"/>
                  <a:pt x="157163" y="212442"/>
                  <a:pt x="157163" y="205184"/>
                </a:cubicBezTo>
                <a:cubicBezTo>
                  <a:pt x="157163" y="197927"/>
                  <a:pt x="151323" y="192088"/>
                  <a:pt x="144066" y="192088"/>
                </a:cubicBezTo>
                <a:lnTo>
                  <a:pt x="65484" y="192088"/>
                </a:lnTo>
                <a:close/>
              </a:path>
            </a:pathLst>
          </a:custGeom>
          <a:solidFill>
            <a:srgbClr val="00C9A7"/>
          </a:solidFill>
        </p:spPr>
      </p:sp>
      <p:sp>
        <p:nvSpPr>
          <p:cNvPr id="16" name="Text 14"/>
          <p:cNvSpPr/>
          <p:nvPr/>
        </p:nvSpPr>
        <p:spPr>
          <a:xfrm>
            <a:off x="1473200" y="40894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报告生成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66800" y="4572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7463" y="17463"/>
                </a:moveTo>
                <a:cubicBezTo>
                  <a:pt x="27121" y="17463"/>
                  <a:pt x="34925" y="25266"/>
                  <a:pt x="34925" y="34925"/>
                </a:cubicBezTo>
                <a:lnTo>
                  <a:pt x="34925" y="218281"/>
                </a:lnTo>
                <a:cubicBezTo>
                  <a:pt x="34925" y="223083"/>
                  <a:pt x="38854" y="227013"/>
                  <a:pt x="43656" y="227013"/>
                </a:cubicBezTo>
                <a:lnTo>
                  <a:pt x="261938" y="227013"/>
                </a:lnTo>
                <a:cubicBezTo>
                  <a:pt x="271596" y="227013"/>
                  <a:pt x="279400" y="234816"/>
                  <a:pt x="279400" y="244475"/>
                </a:cubicBezTo>
                <a:cubicBezTo>
                  <a:pt x="279400" y="254134"/>
                  <a:pt x="271596" y="261938"/>
                  <a:pt x="261938" y="261938"/>
                </a:cubicBezTo>
                <a:lnTo>
                  <a:pt x="43656" y="261938"/>
                </a:lnTo>
                <a:cubicBezTo>
                  <a:pt x="19536" y="261938"/>
                  <a:pt x="0" y="242401"/>
                  <a:pt x="0" y="218281"/>
                </a:cubicBezTo>
                <a:lnTo>
                  <a:pt x="0" y="34925"/>
                </a:lnTo>
                <a:cubicBezTo>
                  <a:pt x="0" y="25266"/>
                  <a:pt x="7804" y="17463"/>
                  <a:pt x="17463" y="17463"/>
                </a:cubicBezTo>
                <a:close/>
                <a:moveTo>
                  <a:pt x="130969" y="52388"/>
                </a:moveTo>
                <a:cubicBezTo>
                  <a:pt x="134625" y="52388"/>
                  <a:pt x="138117" y="53915"/>
                  <a:pt x="140628" y="56644"/>
                </a:cubicBezTo>
                <a:lnTo>
                  <a:pt x="179427" y="98936"/>
                </a:lnTo>
                <a:lnTo>
                  <a:pt x="204639" y="73670"/>
                </a:lnTo>
                <a:cubicBezTo>
                  <a:pt x="209768" y="68540"/>
                  <a:pt x="218063" y="68540"/>
                  <a:pt x="223138" y="73670"/>
                </a:cubicBezTo>
                <a:lnTo>
                  <a:pt x="258063" y="108595"/>
                </a:lnTo>
                <a:cubicBezTo>
                  <a:pt x="260519" y="111051"/>
                  <a:pt x="261883" y="114379"/>
                  <a:pt x="261883" y="117872"/>
                </a:cubicBezTo>
                <a:lnTo>
                  <a:pt x="261883" y="178991"/>
                </a:lnTo>
                <a:cubicBezTo>
                  <a:pt x="261883" y="186248"/>
                  <a:pt x="256044" y="192088"/>
                  <a:pt x="248786" y="192088"/>
                </a:cubicBezTo>
                <a:lnTo>
                  <a:pt x="82892" y="192088"/>
                </a:lnTo>
                <a:cubicBezTo>
                  <a:pt x="75634" y="192088"/>
                  <a:pt x="69795" y="186248"/>
                  <a:pt x="69795" y="178991"/>
                </a:cubicBezTo>
                <a:lnTo>
                  <a:pt x="69795" y="117872"/>
                </a:lnTo>
                <a:cubicBezTo>
                  <a:pt x="69795" y="114598"/>
                  <a:pt x="71051" y="111433"/>
                  <a:pt x="73233" y="109031"/>
                </a:cubicBezTo>
                <a:lnTo>
                  <a:pt x="121255" y="56644"/>
                </a:lnTo>
                <a:cubicBezTo>
                  <a:pt x="123711" y="53915"/>
                  <a:pt x="127258" y="52388"/>
                  <a:pt x="130914" y="52388"/>
                </a:cubicBezTo>
                <a:close/>
              </a:path>
            </a:pathLst>
          </a:custGeom>
          <a:solidFill>
            <a:srgbClr val="00C9A7"/>
          </a:solidFill>
        </p:spPr>
      </p:sp>
      <p:sp>
        <p:nvSpPr>
          <p:cNvPr id="18" name="Text 16"/>
          <p:cNvSpPr/>
          <p:nvPr/>
        </p:nvSpPr>
        <p:spPr>
          <a:xfrm>
            <a:off x="1473200" y="45212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趋势分析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18000" y="2413000"/>
            <a:ext cx="3302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用户可在平台中查看各种图像、藻种曲线、环境因子变化、历史报警记录和设备运行状态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分析信息包括数量趋势、风险等级和建议动作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334000"/>
            <a:ext cx="7239000" cy="3556000"/>
          </a:xfrm>
          <a:prstGeom prst="rect">
            <a:avLst/>
          </a:prstGeom>
          <a:solidFill>
            <a:srgbClr val="0B2D5B"/>
          </a:solidFill>
        </p:spPr>
      </p:sp>
      <p:sp>
        <p:nvSpPr>
          <p:cNvPr id="21" name="Text 19"/>
          <p:cNvSpPr/>
          <p:nvPr/>
        </p:nvSpPr>
        <p:spPr>
          <a:xfrm>
            <a:off x="1066800" y="5562600"/>
            <a:ext cx="4445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数据闭环：越用越准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6800" y="6096000"/>
            <a:ext cx="3048000" cy="711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① 采集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水下原位偏振成像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191000" y="6350000"/>
            <a:ext cx="508000" cy="0"/>
          </a:xfrm>
          <a:prstGeom prst="straightConnector1">
            <a:avLst/>
          </a:prstGeom>
          <a:noFill/>
          <a:ln w="25400">
            <a:solidFill>
              <a:srgbClr val="00C9A7"/>
            </a:solidFill>
            <a:prstDash val="solid"/>
            <a:headEnd type="none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4826000" y="6096000"/>
            <a:ext cx="2921000" cy="711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② 识别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AI自动分类计数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66800" y="7112000"/>
            <a:ext cx="3048000" cy="711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③ 复核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专家人工校验反馈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191000" y="7366000"/>
            <a:ext cx="508000" cy="0"/>
          </a:xfrm>
          <a:prstGeom prst="straightConnector1">
            <a:avLst/>
          </a:prstGeom>
          <a:noFill/>
          <a:ln w="25400">
            <a:solidFill>
              <a:srgbClr val="00C9A7"/>
            </a:solidFill>
            <a:prstDash val="solid"/>
            <a:headEnd type="none"/>
            <a:tailEnd type="arrow"/>
          </a:ln>
        </p:spPr>
      </p:sp>
      <p:sp>
        <p:nvSpPr>
          <p:cNvPr id="27" name="Text 25"/>
          <p:cNvSpPr/>
          <p:nvPr/>
        </p:nvSpPr>
        <p:spPr>
          <a:xfrm>
            <a:off x="4826000" y="7112000"/>
            <a:ext cx="2921000" cy="711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④ 再训练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模型持续优化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66800" y="8001000"/>
            <a:ext cx="66294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73333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随着不同水体、不同季节数据的积累，系统从单点样机逐步扩展为区域化监测网络，模型精度持续提升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62000" y="87884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14732000" y="88392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13</a:t>
            </a:r>
            <a:endParaRPr lang="en-US" sz="1300" dirty="0"/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4945" y="1371600"/>
            <a:ext cx="4865370" cy="6589395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10654030" y="8190230"/>
            <a:ext cx="1727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软件平台界面</a:t>
            </a:r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hl54qt7z4deq/mnt/agents/output/zaoyingzhiwei/images/bg_reference.png"/>
          <p:cNvPicPr>
            <a:picLocks noChangeAspect="1"/>
          </p:cNvPicPr>
          <p:nvPr/>
        </p:nvPicPr>
        <p:blipFill>
          <a:blip r:embed="rId1"/>
          <a:srcRect l="10000" t="30000" r="20000" b="20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71A33">
                  <a:alpha val="91000"/>
                </a:srgbClr>
              </a:gs>
              <a:gs pos="55000">
                <a:srgbClr val="071A33">
                  <a:alpha val="82000"/>
                </a:srgbClr>
              </a:gs>
              <a:gs pos="100000">
                <a:srgbClr val="071A33">
                  <a:alpha val="38000"/>
                </a:srgbClr>
              </a:gs>
            </a:gsLst>
            <a:lin ang="0" scaled="1"/>
          </a:gradFill>
        </p:spPr>
      </p:sp>
      <p:sp>
        <p:nvSpPr>
          <p:cNvPr id="4" name="Text 1"/>
          <p:cNvSpPr/>
          <p:nvPr/>
        </p:nvSpPr>
        <p:spPr>
          <a:xfrm>
            <a:off x="1270000" y="2794000"/>
            <a:ext cx="2540000" cy="1143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70000" y="4064000"/>
            <a:ext cx="762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竞争优势与商业模式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70000" y="48260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56471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差异化定位与可持续盈利路径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270000" y="3937000"/>
            <a:ext cx="635000" cy="50800"/>
          </a:xfrm>
          <a:prstGeom prst="rect">
            <a:avLst/>
          </a:prstGeom>
          <a:solidFill>
            <a:srgbClr val="00C9A7"/>
          </a:solidFill>
        </p:spPr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04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 竞争优势与商业模式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397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竞品对比：在"高端进口"与"人工镜检"之间找到最优解</a:t>
            </a:r>
            <a:endParaRPr lang="en-US" sz="3000" b="1" dirty="0">
              <a:solidFill>
                <a:srgbClr val="0B2D5B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29210" y="4572000"/>
          <a:ext cx="15424785" cy="3835400"/>
        </p:xfrm>
        <a:graphic>
          <a:graphicData uri="http://schemas.openxmlformats.org/drawingml/2006/table">
            <a:tbl>
              <a:tblPr/>
              <a:tblGrid>
                <a:gridCol w="2872740"/>
                <a:gridCol w="3298825"/>
                <a:gridCol w="2872105"/>
                <a:gridCol w="3347085"/>
                <a:gridCol w="3034030"/>
              </a:tblGrid>
              <a:tr h="720090"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对比维度</a:t>
                      </a:r>
                      <a:endParaRPr lang="en-US" sz="1600" b="1" u="none" dirty="0">
                        <a:solidFill>
                          <a:srgbClr val="FFFFFF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人工镜检</a:t>
                      </a:r>
                      <a:endParaRPr lang="en-US" sz="1600" b="1" u="none" dirty="0">
                        <a:solidFill>
                          <a:srgbClr val="FFFFFF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常规传感器</a:t>
                      </a:r>
                      <a:endParaRPr lang="en-US" sz="1600" b="1" u="none" dirty="0">
                        <a:solidFill>
                          <a:srgbClr val="FFFFFF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高端进口设备</a:t>
                      </a:r>
                      <a:endParaRPr lang="en-US" sz="1600" b="1" u="none" dirty="0">
                        <a:solidFill>
                          <a:srgbClr val="FFFFFF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  <a:p>
                      <a:pPr algn="ctr"/>
                      <a:endParaRPr lang="en-US" sz="1600" b="1" u="none" dirty="0">
                        <a:solidFill>
                          <a:srgbClr val="FFFFFF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dirty="0">
                          <a:solidFill>
                            <a:srgbClr val="00B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Liter" panose="02000503030000020004" pitchFamily="34" charset="-120"/>
                        </a:rPr>
                        <a:t>藻影知微</a:t>
                      </a:r>
                      <a:endParaRPr lang="en-US" sz="3200" b="1" u="none" dirty="0">
                        <a:solidFill>
                          <a:srgbClr val="00B0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5B"/>
                    </a:solidFill>
                  </a:tcPr>
                </a:tc>
              </a:tr>
              <a:tr h="64706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成像方式</a:t>
                      </a:r>
                      <a:endParaRPr lang="en-US" sz="1600" u="none" dirty="0">
                        <a:solidFill>
                          <a:srgbClr val="0F1B2D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显微镜观察</a:t>
                      </a:r>
                      <a:endParaRPr lang="en-US" sz="1600" u="none" dirty="0">
                        <a:solidFill>
                          <a:srgbClr val="0F1B2D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无成像</a:t>
                      </a:r>
                      <a:endParaRPr lang="en-US" sz="1600" u="none" dirty="0">
                        <a:solidFill>
                          <a:srgbClr val="0F1B2D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高清显微成像</a:t>
                      </a:r>
                      <a:endParaRPr lang="en-US" sz="1600" u="none" dirty="0">
                        <a:solidFill>
                          <a:srgbClr val="0F1B2D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Liter" panose="02000503030000020004" pitchFamily="34" charset="-120"/>
                        </a:rPr>
                        <a:t>偏振</a:t>
                      </a:r>
                      <a:r>
                        <a:rPr lang="en-US" sz="1800" b="1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显微成像</a:t>
                      </a:r>
                      <a:endParaRPr lang="en-US" sz="1800" b="1" u="none" dirty="0">
                        <a:solidFill>
                          <a:srgbClr val="0F1B2D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>
                        <a:alpha val="3000"/>
                      </a:srgbClr>
                    </a:solidFill>
                  </a:tcPr>
                </a:tc>
              </a:tr>
              <a:tr h="734060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藻种识别</a:t>
                      </a:r>
                      <a:endParaRPr lang="en-US" sz="1600" u="none" dirty="0">
                        <a:solidFill>
                          <a:srgbClr val="0F1B2D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人工判断</a:t>
                      </a:r>
                      <a:endParaRPr lang="en-US" sz="1600" u="none" dirty="0">
                        <a:solidFill>
                          <a:srgbClr val="0F1B2D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不能识别</a:t>
                      </a:r>
                      <a:endParaRPr lang="en-US" sz="1600" u="none" dirty="0">
                        <a:solidFill>
                          <a:srgbClr val="0F1B2D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自动</a:t>
                      </a:r>
                      <a:r>
                        <a:rPr lang="zh-CN" altLang="en-US" sz="1600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宋体" panose="02010600030101010101" pitchFamily="2" charset="-122"/>
                          <a:cs typeface="Liter" panose="02000503030000020004" pitchFamily="34" charset="-120"/>
                        </a:rPr>
                        <a:t>图像</a:t>
                      </a:r>
                      <a:r>
                        <a:rPr lang="en-US" sz="1600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识别</a:t>
                      </a:r>
                      <a:endParaRPr lang="en-US" sz="1600" u="none" dirty="0">
                        <a:solidFill>
                          <a:srgbClr val="0F1B2D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  <a:p>
                      <a:pPr algn="ctr"/>
                      <a:r>
                        <a:rPr lang="zh-CN" altLang="en-US" sz="1600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宋体" panose="02010600030101010101" pitchFamily="2" charset="-122"/>
                          <a:cs typeface="Liter" panose="02000503030000020004" pitchFamily="34" charset="-120"/>
                        </a:rPr>
                        <a:t>再查一查</a:t>
                      </a:r>
                      <a:endParaRPr lang="zh-CN" altLang="en-US" sz="1600" u="none" dirty="0">
                        <a:solidFill>
                          <a:srgbClr val="0F1B2D"/>
                        </a:solidFill>
                        <a:latin typeface="Liter" panose="02000503030000020004" pitchFamily="34" charset="0"/>
                        <a:ea typeface="宋体" panose="02010600030101010101" pitchFamily="2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YOLO实时识别</a:t>
                      </a:r>
                      <a:endParaRPr lang="en-US" sz="1800" b="1" u="none" dirty="0">
                        <a:solidFill>
                          <a:srgbClr val="0F1B2D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>
                        <a:alpha val="3000"/>
                      </a:srgbClr>
                    </a:solidFill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部署成本</a:t>
                      </a:r>
                      <a:endParaRPr lang="en-US" sz="1600" u="none" dirty="0">
                        <a:solidFill>
                          <a:srgbClr val="0F1B2D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人力成本高</a:t>
                      </a:r>
                      <a:endParaRPr lang="en-US" sz="1600" u="none" dirty="0">
                        <a:solidFill>
                          <a:srgbClr val="0F1B2D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数千元</a:t>
                      </a:r>
                      <a:endParaRPr lang="en-US" sz="1600" u="none" dirty="0">
                        <a:solidFill>
                          <a:srgbClr val="0F1B2D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数十万~百万</a:t>
                      </a:r>
                      <a:endParaRPr lang="en-US" sz="2000" b="1" u="none" dirty="0">
                        <a:solidFill>
                          <a:srgbClr val="0F1B2D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none" dirty="0">
                          <a:solidFill>
                            <a:srgbClr val="FF0000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1.6~2.4万</a:t>
                      </a:r>
                      <a:endParaRPr lang="en-US" sz="2400" b="1" u="none" dirty="0">
                        <a:solidFill>
                          <a:srgbClr val="FF0000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>
                        <a:alpha val="3000"/>
                      </a:srgbClr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实时性</a:t>
                      </a:r>
                      <a:endParaRPr lang="en-US" sz="1600" u="none" dirty="0">
                        <a:solidFill>
                          <a:srgbClr val="0F1B2D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数天滞后</a:t>
                      </a:r>
                      <a:endParaRPr lang="en-US" sz="1600" u="none" dirty="0">
                        <a:solidFill>
                          <a:srgbClr val="0F1B2D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实时</a:t>
                      </a:r>
                      <a:endParaRPr lang="en-US" sz="1600" u="none" dirty="0">
                        <a:solidFill>
                          <a:srgbClr val="0F1B2D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实时</a:t>
                      </a:r>
                      <a:endParaRPr lang="en-US" sz="1600" u="none" dirty="0">
                        <a:solidFill>
                          <a:srgbClr val="0F1B2D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none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Liter" panose="02000503030000020004" pitchFamily="34" charset="-120"/>
                        </a:rPr>
                        <a:t>实时</a:t>
                      </a:r>
                      <a:endParaRPr lang="en-US" sz="2000" b="1" u="none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>
                        <a:alpha val="3000"/>
                      </a:srgbClr>
                    </a:solidFill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原位监测</a:t>
                      </a:r>
                      <a:endParaRPr lang="en-US" sz="1600" u="none" dirty="0">
                        <a:solidFill>
                          <a:srgbClr val="0F1B2D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需采样</a:t>
                      </a:r>
                      <a:endParaRPr lang="en-US" sz="1600" u="none" dirty="0">
                        <a:solidFill>
                          <a:srgbClr val="0F1B2D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可原位</a:t>
                      </a:r>
                      <a:endParaRPr lang="en-US" sz="1600" u="none" dirty="0">
                        <a:solidFill>
                          <a:srgbClr val="0F1B2D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可原位</a:t>
                      </a:r>
                      <a:endParaRPr lang="en-US" sz="1600" u="none" dirty="0">
                        <a:solidFill>
                          <a:srgbClr val="0F1B2D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u="none" dirty="0">
                          <a:solidFill>
                            <a:srgbClr val="0F1B2D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可原位</a:t>
                      </a:r>
                      <a:endParaRPr lang="en-US" sz="1800" b="1" u="none" dirty="0">
                        <a:solidFill>
                          <a:srgbClr val="0F1B2D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C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>
                        <a:alpha val="3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62000" y="87884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14732000" y="88392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15</a:t>
            </a:r>
            <a:endParaRPr lang="en-US" sz="1300" dirty="0"/>
          </a:p>
        </p:txBody>
      </p:sp>
      <p:grpSp>
        <p:nvGrpSpPr>
          <p:cNvPr id="17" name="组合 16"/>
          <p:cNvGrpSpPr/>
          <p:nvPr/>
        </p:nvGrpSpPr>
        <p:grpSpPr>
          <a:xfrm>
            <a:off x="812800" y="1677670"/>
            <a:ext cx="3093720" cy="2689225"/>
            <a:chOff x="1520" y="2985"/>
            <a:chExt cx="4872" cy="4235"/>
          </a:xfrm>
        </p:grpSpPr>
        <p:pic>
          <p:nvPicPr>
            <p:cNvPr id="14" name="图片 13" descr="3cb0aa21cb2e95a20313be171de739f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520" y="2985"/>
              <a:ext cx="4873" cy="3655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2569" y="6640"/>
              <a:ext cx="248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latin typeface="微软雅黑" panose="020B0503020204020204" charset="-122"/>
                  <a:ea typeface="微软雅黑" panose="020B0503020204020204" charset="-122"/>
                </a:rPr>
                <a:t>传统人工镜检</a:t>
              </a:r>
              <a:endParaRPr lang="zh-CN" altLang="en-US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812800" y="1466850"/>
            <a:ext cx="14581505" cy="2905760"/>
            <a:chOff x="1280" y="2310"/>
            <a:chExt cx="22963" cy="4576"/>
          </a:xfrm>
        </p:grpSpPr>
        <p:grpSp>
          <p:nvGrpSpPr>
            <p:cNvPr id="21" name="组合 20"/>
            <p:cNvGrpSpPr/>
            <p:nvPr/>
          </p:nvGrpSpPr>
          <p:grpSpPr>
            <a:xfrm>
              <a:off x="7197" y="2310"/>
              <a:ext cx="8320" cy="4577"/>
              <a:chOff x="7384" y="2300"/>
              <a:chExt cx="8320" cy="4577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7384" y="2300"/>
                <a:ext cx="8320" cy="3968"/>
                <a:chOff x="7384" y="2300"/>
                <a:chExt cx="8320" cy="3968"/>
              </a:xfrm>
            </p:grpSpPr>
            <p:pic>
              <p:nvPicPr>
                <p:cNvPr id="5" name="图片 4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7384" y="2300"/>
                  <a:ext cx="5670" cy="3969"/>
                </a:xfrm>
                <a:prstGeom prst="rect">
                  <a:avLst/>
                </a:prstGeom>
              </p:spPr>
            </p:pic>
            <p:pic>
              <p:nvPicPr>
                <p:cNvPr id="18" name="图片 17" descr="高端设备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054" y="2300"/>
                  <a:ext cx="2650" cy="3969"/>
                </a:xfrm>
                <a:prstGeom prst="rect">
                  <a:avLst/>
                </a:prstGeom>
              </p:spPr>
            </p:pic>
          </p:grpSp>
          <p:sp>
            <p:nvSpPr>
              <p:cNvPr id="20" name="文本框 19"/>
              <p:cNvSpPr txBox="1"/>
              <p:nvPr/>
            </p:nvSpPr>
            <p:spPr>
              <a:xfrm>
                <a:off x="9124" y="6297"/>
                <a:ext cx="484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</a:rPr>
                  <a:t>国外高端设备</a:t>
                </a:r>
                <a:endParaRPr lang="zh-CN" altLang="en-US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6697" y="2368"/>
              <a:ext cx="7546" cy="4519"/>
              <a:chOff x="16697" y="2267"/>
              <a:chExt cx="7546" cy="4519"/>
            </a:xfrm>
          </p:grpSpPr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697" y="2267"/>
                <a:ext cx="7546" cy="3969"/>
              </a:xfrm>
              <a:prstGeom prst="rect">
                <a:avLst/>
              </a:prstGeom>
            </p:spPr>
          </p:pic>
          <p:sp>
            <p:nvSpPr>
              <p:cNvPr id="24" name="文本框 23"/>
              <p:cNvSpPr txBox="1"/>
              <p:nvPr/>
            </p:nvSpPr>
            <p:spPr>
              <a:xfrm>
                <a:off x="18801" y="6206"/>
                <a:ext cx="3337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b="1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藻影知微</a:t>
                </a:r>
                <a:endPara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1280" y="2652"/>
              <a:ext cx="4872" cy="4235"/>
              <a:chOff x="1520" y="2985"/>
              <a:chExt cx="4872" cy="4235"/>
            </a:xfrm>
          </p:grpSpPr>
          <p:pic>
            <p:nvPicPr>
              <p:cNvPr id="27" name="图片 26" descr="3cb0aa21cb2e95a20313be171de739f9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520" y="2985"/>
                <a:ext cx="4873" cy="3655"/>
              </a:xfrm>
              <a:prstGeom prst="rect">
                <a:avLst/>
              </a:prstGeom>
            </p:spPr>
          </p:pic>
          <p:sp>
            <p:nvSpPr>
              <p:cNvPr id="28" name="文本框 27"/>
              <p:cNvSpPr txBox="1"/>
              <p:nvPr/>
            </p:nvSpPr>
            <p:spPr>
              <a:xfrm>
                <a:off x="2569" y="6640"/>
                <a:ext cx="2481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</a:rPr>
                  <a:t>传统人工镜检</a:t>
                </a:r>
                <a:endParaRPr lang="zh-CN" altLang="en-US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04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 竞争优势与商业模式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270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商业模式：硬件+平台+服务的复合收入结构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762000" y="1574800"/>
            <a:ext cx="381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三层产品定价体系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057400"/>
            <a:ext cx="4572000" cy="228600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B2D5B">
                <a:alpha val="705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2057400"/>
            <a:ext cx="4572000" cy="508000"/>
          </a:xfrm>
          <a:prstGeom prst="rect">
            <a:avLst/>
          </a:prstGeom>
          <a:solidFill>
            <a:srgbClr val="3A7CA5"/>
          </a:solidFill>
        </p:spPr>
      </p:sp>
      <p:sp>
        <p:nvSpPr>
          <p:cNvPr id="8" name="Text 6"/>
          <p:cNvSpPr/>
          <p:nvPr/>
        </p:nvSpPr>
        <p:spPr>
          <a:xfrm>
            <a:off x="1016000" y="2057400"/>
            <a:ext cx="203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基础试点版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48000" y="2057400"/>
            <a:ext cx="203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2.98万/套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743200"/>
            <a:ext cx="40640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偏振显微成像终端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基础识别算法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单机运行模式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适合高校实验室、养殖示范点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88000" y="2057400"/>
            <a:ext cx="4572000" cy="228600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B2D5B">
                <a:alpha val="705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88000" y="2057400"/>
            <a:ext cx="4572000" cy="508000"/>
          </a:xfrm>
          <a:prstGeom prst="rect">
            <a:avLst/>
          </a:prstGeom>
          <a:solidFill>
            <a:srgbClr val="0B2D5B"/>
          </a:solidFill>
        </p:spPr>
      </p:sp>
      <p:sp>
        <p:nvSpPr>
          <p:cNvPr id="13" name="Text 11"/>
          <p:cNvSpPr/>
          <p:nvPr/>
        </p:nvSpPr>
        <p:spPr>
          <a:xfrm>
            <a:off x="5842000" y="2057400"/>
            <a:ext cx="203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标准部署版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74000" y="2057400"/>
            <a:ext cx="203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4.98万/套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42000" y="2743200"/>
            <a:ext cx="40640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完整偏振成像+识别功能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平台接入与数据存储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风险预警与报告生成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适合水库、水厂、监测站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414000" y="2057400"/>
            <a:ext cx="5080000" cy="228600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B2D5B">
                <a:alpha val="705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414000" y="2057400"/>
            <a:ext cx="5080000" cy="508000"/>
          </a:xfrm>
          <a:prstGeom prst="rect">
            <a:avLst/>
          </a:prstGeom>
          <a:solidFill>
            <a:srgbClr val="0B2D5B"/>
          </a:solidFill>
        </p:spPr>
      </p:sp>
      <p:sp>
        <p:nvSpPr>
          <p:cNvPr id="18" name="Text 16"/>
          <p:cNvSpPr/>
          <p:nvPr/>
        </p:nvSpPr>
        <p:spPr>
          <a:xfrm>
            <a:off x="10668000" y="2057400"/>
            <a:ext cx="2286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联网定制版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54000" y="2057400"/>
            <a:ext cx="2286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7.98万起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68000" y="2743200"/>
            <a:ext cx="45720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多点联网监测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区域藻种库建设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模型定制与持续优化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适合工业取水口、核电冷源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469900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复合商业模式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207000"/>
            <a:ext cx="2743200" cy="1651000"/>
          </a:xfrm>
          <a:prstGeom prst="rect">
            <a:avLst/>
          </a:prstGeom>
          <a:solidFill>
            <a:srgbClr val="0B2D5B"/>
          </a:solidFill>
        </p:spPr>
      </p:sp>
      <p:sp>
        <p:nvSpPr>
          <p:cNvPr id="23" name="Shape 21"/>
          <p:cNvSpPr/>
          <p:nvPr/>
        </p:nvSpPr>
        <p:spPr>
          <a:xfrm>
            <a:off x="1016000" y="5384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4775" y="14288"/>
                </a:moveTo>
                <a:cubicBezTo>
                  <a:pt x="104775" y="6370"/>
                  <a:pt x="98405" y="0"/>
                  <a:pt x="90488" y="0"/>
                </a:cubicBezTo>
                <a:cubicBezTo>
                  <a:pt x="82570" y="0"/>
                  <a:pt x="76200" y="6370"/>
                  <a:pt x="76200" y="14288"/>
                </a:cubicBezTo>
                <a:lnTo>
                  <a:pt x="76200" y="38100"/>
                </a:lnTo>
                <a:cubicBezTo>
                  <a:pt x="55185" y="38100"/>
                  <a:pt x="38100" y="55185"/>
                  <a:pt x="38100" y="76200"/>
                </a:cubicBezTo>
                <a:lnTo>
                  <a:pt x="14288" y="76200"/>
                </a:lnTo>
                <a:cubicBezTo>
                  <a:pt x="6370" y="76200"/>
                  <a:pt x="0" y="82570"/>
                  <a:pt x="0" y="90488"/>
                </a:cubicBezTo>
                <a:cubicBezTo>
                  <a:pt x="0" y="98405"/>
                  <a:pt x="6370" y="104775"/>
                  <a:pt x="14288" y="104775"/>
                </a:cubicBezTo>
                <a:lnTo>
                  <a:pt x="38100" y="104775"/>
                </a:lnTo>
                <a:lnTo>
                  <a:pt x="38100" y="138113"/>
                </a:lnTo>
                <a:lnTo>
                  <a:pt x="14288" y="138113"/>
                </a:lnTo>
                <a:cubicBezTo>
                  <a:pt x="6370" y="138113"/>
                  <a:pt x="0" y="144482"/>
                  <a:pt x="0" y="152400"/>
                </a:cubicBezTo>
                <a:cubicBezTo>
                  <a:pt x="0" y="160318"/>
                  <a:pt x="6370" y="166688"/>
                  <a:pt x="14288" y="166688"/>
                </a:cubicBezTo>
                <a:lnTo>
                  <a:pt x="38100" y="166688"/>
                </a:lnTo>
                <a:lnTo>
                  <a:pt x="38100" y="200025"/>
                </a:lnTo>
                <a:lnTo>
                  <a:pt x="14288" y="200025"/>
                </a:lnTo>
                <a:cubicBezTo>
                  <a:pt x="6370" y="200025"/>
                  <a:pt x="0" y="206395"/>
                  <a:pt x="0" y="214313"/>
                </a:cubicBezTo>
                <a:cubicBezTo>
                  <a:pt x="0" y="222230"/>
                  <a:pt x="6370" y="228600"/>
                  <a:pt x="14288" y="228600"/>
                </a:cubicBezTo>
                <a:lnTo>
                  <a:pt x="38100" y="228600"/>
                </a:lnTo>
                <a:cubicBezTo>
                  <a:pt x="38100" y="249615"/>
                  <a:pt x="55185" y="266700"/>
                  <a:pt x="76200" y="266700"/>
                </a:cubicBezTo>
                <a:lnTo>
                  <a:pt x="76200" y="290513"/>
                </a:lnTo>
                <a:cubicBezTo>
                  <a:pt x="76200" y="298430"/>
                  <a:pt x="82570" y="304800"/>
                  <a:pt x="90488" y="304800"/>
                </a:cubicBezTo>
                <a:cubicBezTo>
                  <a:pt x="98405" y="304800"/>
                  <a:pt x="104775" y="298430"/>
                  <a:pt x="104775" y="290513"/>
                </a:cubicBezTo>
                <a:lnTo>
                  <a:pt x="104775" y="266700"/>
                </a:lnTo>
                <a:lnTo>
                  <a:pt x="138113" y="266700"/>
                </a:lnTo>
                <a:lnTo>
                  <a:pt x="138113" y="290513"/>
                </a:lnTo>
                <a:cubicBezTo>
                  <a:pt x="138113" y="298430"/>
                  <a:pt x="144482" y="304800"/>
                  <a:pt x="152400" y="304800"/>
                </a:cubicBezTo>
                <a:cubicBezTo>
                  <a:pt x="160318" y="304800"/>
                  <a:pt x="166688" y="298430"/>
                  <a:pt x="166688" y="290513"/>
                </a:cubicBezTo>
                <a:lnTo>
                  <a:pt x="166688" y="266700"/>
                </a:lnTo>
                <a:lnTo>
                  <a:pt x="200025" y="266700"/>
                </a:lnTo>
                <a:lnTo>
                  <a:pt x="200025" y="290513"/>
                </a:lnTo>
                <a:cubicBezTo>
                  <a:pt x="200025" y="298430"/>
                  <a:pt x="206395" y="304800"/>
                  <a:pt x="214313" y="304800"/>
                </a:cubicBezTo>
                <a:cubicBezTo>
                  <a:pt x="222230" y="304800"/>
                  <a:pt x="228600" y="298430"/>
                  <a:pt x="228600" y="290513"/>
                </a:cubicBezTo>
                <a:lnTo>
                  <a:pt x="228600" y="266700"/>
                </a:lnTo>
                <a:cubicBezTo>
                  <a:pt x="249615" y="266700"/>
                  <a:pt x="266700" y="249615"/>
                  <a:pt x="266700" y="228600"/>
                </a:cubicBezTo>
                <a:lnTo>
                  <a:pt x="290513" y="228600"/>
                </a:lnTo>
                <a:cubicBezTo>
                  <a:pt x="298430" y="228600"/>
                  <a:pt x="304800" y="222230"/>
                  <a:pt x="304800" y="214313"/>
                </a:cubicBezTo>
                <a:cubicBezTo>
                  <a:pt x="304800" y="206395"/>
                  <a:pt x="298430" y="200025"/>
                  <a:pt x="290513" y="200025"/>
                </a:cubicBezTo>
                <a:lnTo>
                  <a:pt x="266700" y="200025"/>
                </a:lnTo>
                <a:lnTo>
                  <a:pt x="266700" y="166688"/>
                </a:lnTo>
                <a:lnTo>
                  <a:pt x="290513" y="166688"/>
                </a:lnTo>
                <a:cubicBezTo>
                  <a:pt x="298430" y="166688"/>
                  <a:pt x="304800" y="160318"/>
                  <a:pt x="304800" y="152400"/>
                </a:cubicBezTo>
                <a:cubicBezTo>
                  <a:pt x="304800" y="144482"/>
                  <a:pt x="298430" y="138113"/>
                  <a:pt x="290513" y="138113"/>
                </a:cubicBezTo>
                <a:lnTo>
                  <a:pt x="266700" y="138113"/>
                </a:lnTo>
                <a:lnTo>
                  <a:pt x="266700" y="104775"/>
                </a:lnTo>
                <a:lnTo>
                  <a:pt x="290513" y="104775"/>
                </a:lnTo>
                <a:cubicBezTo>
                  <a:pt x="298430" y="104775"/>
                  <a:pt x="304800" y="98405"/>
                  <a:pt x="304800" y="90488"/>
                </a:cubicBezTo>
                <a:cubicBezTo>
                  <a:pt x="304800" y="82570"/>
                  <a:pt x="298430" y="76200"/>
                  <a:pt x="290513" y="76200"/>
                </a:cubicBezTo>
                <a:lnTo>
                  <a:pt x="266700" y="76200"/>
                </a:lnTo>
                <a:cubicBezTo>
                  <a:pt x="266700" y="55185"/>
                  <a:pt x="249615" y="38100"/>
                  <a:pt x="228600" y="38100"/>
                </a:cubicBezTo>
                <a:lnTo>
                  <a:pt x="228600" y="14288"/>
                </a:lnTo>
                <a:cubicBezTo>
                  <a:pt x="228600" y="6370"/>
                  <a:pt x="222230" y="0"/>
                  <a:pt x="214313" y="0"/>
                </a:cubicBezTo>
                <a:cubicBezTo>
                  <a:pt x="206395" y="0"/>
                  <a:pt x="200025" y="6370"/>
                  <a:pt x="200025" y="14288"/>
                </a:cubicBezTo>
                <a:lnTo>
                  <a:pt x="200025" y="38100"/>
                </a:lnTo>
                <a:lnTo>
                  <a:pt x="166688" y="38100"/>
                </a:lnTo>
                <a:lnTo>
                  <a:pt x="166688" y="14288"/>
                </a:lnTo>
                <a:cubicBezTo>
                  <a:pt x="166688" y="6370"/>
                  <a:pt x="160318" y="0"/>
                  <a:pt x="152400" y="0"/>
                </a:cubicBezTo>
                <a:cubicBezTo>
                  <a:pt x="144482" y="0"/>
                  <a:pt x="138113" y="6370"/>
                  <a:pt x="138113" y="14288"/>
                </a:cubicBezTo>
                <a:lnTo>
                  <a:pt x="138113" y="38100"/>
                </a:lnTo>
                <a:lnTo>
                  <a:pt x="104775" y="38100"/>
                </a:lnTo>
                <a:lnTo>
                  <a:pt x="104775" y="14288"/>
                </a:lnTo>
                <a:close/>
                <a:moveTo>
                  <a:pt x="95250" y="76200"/>
                </a:moveTo>
                <a:lnTo>
                  <a:pt x="209550" y="76200"/>
                </a:lnTo>
                <a:cubicBezTo>
                  <a:pt x="220087" y="76200"/>
                  <a:pt x="228600" y="84713"/>
                  <a:pt x="228600" y="95250"/>
                </a:cubicBezTo>
                <a:lnTo>
                  <a:pt x="228600" y="209550"/>
                </a:lnTo>
                <a:cubicBezTo>
                  <a:pt x="228600" y="220087"/>
                  <a:pt x="220087" y="228600"/>
                  <a:pt x="209550" y="228600"/>
                </a:cubicBezTo>
                <a:lnTo>
                  <a:pt x="95250" y="228600"/>
                </a:lnTo>
                <a:cubicBezTo>
                  <a:pt x="84713" y="228600"/>
                  <a:pt x="76200" y="220087"/>
                  <a:pt x="76200" y="209550"/>
                </a:cubicBezTo>
                <a:lnTo>
                  <a:pt x="76200" y="95250"/>
                </a:lnTo>
                <a:cubicBezTo>
                  <a:pt x="76200" y="84713"/>
                  <a:pt x="84713" y="76200"/>
                  <a:pt x="95250" y="76200"/>
                </a:cubicBezTo>
                <a:close/>
                <a:moveTo>
                  <a:pt x="104775" y="104775"/>
                </a:moveTo>
                <a:lnTo>
                  <a:pt x="104775" y="200025"/>
                </a:lnTo>
                <a:lnTo>
                  <a:pt x="200025" y="200025"/>
                </a:lnTo>
                <a:lnTo>
                  <a:pt x="200025" y="104775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00C9A7"/>
          </a:solidFill>
        </p:spPr>
      </p:sp>
      <p:sp>
        <p:nvSpPr>
          <p:cNvPr id="24" name="Text 22"/>
          <p:cNvSpPr/>
          <p:nvPr/>
        </p:nvSpPr>
        <p:spPr>
          <a:xfrm>
            <a:off x="1422400" y="5359400"/>
            <a:ext cx="18288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硬件销售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16000" y="5816600"/>
            <a:ext cx="2235200" cy="863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一次性设备收入，三层产品满足不同客户需求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759200" y="5207000"/>
            <a:ext cx="2743200" cy="1651000"/>
          </a:xfrm>
          <a:prstGeom prst="rect">
            <a:avLst/>
          </a:prstGeom>
          <a:solidFill>
            <a:srgbClr val="0E3A6E"/>
          </a:solidFill>
        </p:spPr>
      </p:sp>
      <p:sp>
        <p:nvSpPr>
          <p:cNvPr id="27" name="Shape 25"/>
          <p:cNvSpPr/>
          <p:nvPr/>
        </p:nvSpPr>
        <p:spPr>
          <a:xfrm>
            <a:off x="3994150" y="5384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0" y="200025"/>
                </a:moveTo>
                <a:cubicBezTo>
                  <a:pt x="0" y="247352"/>
                  <a:pt x="38398" y="285750"/>
                  <a:pt x="85725" y="285750"/>
                </a:cubicBezTo>
                <a:lnTo>
                  <a:pt x="266700" y="285750"/>
                </a:lnTo>
                <a:cubicBezTo>
                  <a:pt x="308789" y="285750"/>
                  <a:pt x="342900" y="251639"/>
                  <a:pt x="342900" y="209550"/>
                </a:cubicBezTo>
                <a:cubicBezTo>
                  <a:pt x="342900" y="178832"/>
                  <a:pt x="324743" y="152340"/>
                  <a:pt x="298549" y="140315"/>
                </a:cubicBezTo>
                <a:cubicBezTo>
                  <a:pt x="302538" y="132517"/>
                  <a:pt x="304800" y="123646"/>
                  <a:pt x="304800" y="114300"/>
                </a:cubicBezTo>
                <a:cubicBezTo>
                  <a:pt x="304800" y="82748"/>
                  <a:pt x="279202" y="57150"/>
                  <a:pt x="247650" y="57150"/>
                </a:cubicBezTo>
                <a:cubicBezTo>
                  <a:pt x="237113" y="57150"/>
                  <a:pt x="227290" y="60007"/>
                  <a:pt x="218837" y="64949"/>
                </a:cubicBezTo>
                <a:cubicBezTo>
                  <a:pt x="204490" y="37683"/>
                  <a:pt x="175855" y="19050"/>
                  <a:pt x="142875" y="19050"/>
                </a:cubicBezTo>
                <a:cubicBezTo>
                  <a:pt x="95548" y="19050"/>
                  <a:pt x="57150" y="57448"/>
                  <a:pt x="57150" y="104775"/>
                </a:cubicBezTo>
                <a:cubicBezTo>
                  <a:pt x="57150" y="109537"/>
                  <a:pt x="57567" y="114240"/>
                  <a:pt x="58281" y="118765"/>
                </a:cubicBezTo>
                <a:cubicBezTo>
                  <a:pt x="24408" y="130195"/>
                  <a:pt x="0" y="162282"/>
                  <a:pt x="0" y="200025"/>
                </a:cubicBezTo>
                <a:close/>
              </a:path>
            </a:pathLst>
          </a:custGeom>
          <a:solidFill>
            <a:srgbClr val="00C9A7"/>
          </a:solidFill>
        </p:spPr>
      </p:sp>
      <p:sp>
        <p:nvSpPr>
          <p:cNvPr id="28" name="Text 26"/>
          <p:cNvSpPr/>
          <p:nvPr/>
        </p:nvSpPr>
        <p:spPr>
          <a:xfrm>
            <a:off x="4419600" y="5359400"/>
            <a:ext cx="18288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平台订阅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013200" y="5816600"/>
            <a:ext cx="2235200" cy="863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SaaS年费模式，数据存储、预警推送、报告服务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56400" y="5207000"/>
            <a:ext cx="2743200" cy="1651000"/>
          </a:xfrm>
          <a:prstGeom prst="rect">
            <a:avLst/>
          </a:prstGeom>
          <a:solidFill>
            <a:srgbClr val="114780"/>
          </a:solidFill>
        </p:spPr>
      </p:sp>
      <p:sp>
        <p:nvSpPr>
          <p:cNvPr id="31" name="Shape 29"/>
          <p:cNvSpPr/>
          <p:nvPr/>
        </p:nvSpPr>
        <p:spPr>
          <a:xfrm>
            <a:off x="6991350" y="5384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03252" y="58698"/>
                </a:moveTo>
                <a:cubicBezTo>
                  <a:pt x="307777" y="54173"/>
                  <a:pt x="315337" y="55305"/>
                  <a:pt x="317599" y="61258"/>
                </a:cubicBezTo>
                <a:cubicBezTo>
                  <a:pt x="321647" y="71795"/>
                  <a:pt x="323850" y="83284"/>
                  <a:pt x="323850" y="95250"/>
                </a:cubicBezTo>
                <a:cubicBezTo>
                  <a:pt x="323850" y="147876"/>
                  <a:pt x="281226" y="190500"/>
                  <a:pt x="228600" y="190500"/>
                </a:cubicBezTo>
                <a:cubicBezTo>
                  <a:pt x="218182" y="190500"/>
                  <a:pt x="208121" y="188833"/>
                  <a:pt x="198715" y="185738"/>
                </a:cubicBezTo>
                <a:lnTo>
                  <a:pt x="87451" y="297001"/>
                </a:lnTo>
                <a:cubicBezTo>
                  <a:pt x="70723" y="313730"/>
                  <a:pt x="43577" y="313730"/>
                  <a:pt x="26849" y="297001"/>
                </a:cubicBezTo>
                <a:cubicBezTo>
                  <a:pt x="10120" y="280273"/>
                  <a:pt x="10120" y="253127"/>
                  <a:pt x="26849" y="236399"/>
                </a:cubicBezTo>
                <a:lnTo>
                  <a:pt x="138113" y="125135"/>
                </a:lnTo>
                <a:cubicBezTo>
                  <a:pt x="135017" y="115729"/>
                  <a:pt x="133350" y="105728"/>
                  <a:pt x="133350" y="95250"/>
                </a:cubicBezTo>
                <a:cubicBezTo>
                  <a:pt x="133350" y="42624"/>
                  <a:pt x="175974" y="0"/>
                  <a:pt x="228600" y="0"/>
                </a:cubicBezTo>
                <a:cubicBezTo>
                  <a:pt x="240566" y="0"/>
                  <a:pt x="252055" y="2203"/>
                  <a:pt x="262592" y="6251"/>
                </a:cubicBezTo>
                <a:cubicBezTo>
                  <a:pt x="268545" y="8513"/>
                  <a:pt x="269617" y="16073"/>
                  <a:pt x="265152" y="20598"/>
                </a:cubicBezTo>
                <a:lnTo>
                  <a:pt x="212348" y="73402"/>
                </a:lnTo>
                <a:cubicBezTo>
                  <a:pt x="210562" y="75188"/>
                  <a:pt x="209550" y="77629"/>
                  <a:pt x="209550" y="80129"/>
                </a:cubicBezTo>
                <a:lnTo>
                  <a:pt x="209550" y="104775"/>
                </a:lnTo>
                <a:cubicBezTo>
                  <a:pt x="209550" y="110014"/>
                  <a:pt x="213836" y="114300"/>
                  <a:pt x="219075" y="114300"/>
                </a:cubicBezTo>
                <a:lnTo>
                  <a:pt x="243721" y="114300"/>
                </a:lnTo>
                <a:cubicBezTo>
                  <a:pt x="246221" y="114300"/>
                  <a:pt x="248662" y="113288"/>
                  <a:pt x="250448" y="111502"/>
                </a:cubicBezTo>
                <a:lnTo>
                  <a:pt x="303252" y="58698"/>
                </a:lnTo>
                <a:close/>
              </a:path>
            </a:pathLst>
          </a:custGeom>
          <a:solidFill>
            <a:srgbClr val="00C9A7"/>
          </a:solidFill>
        </p:spPr>
      </p:sp>
      <p:sp>
        <p:nvSpPr>
          <p:cNvPr id="32" name="Text 30"/>
          <p:cNvSpPr/>
          <p:nvPr/>
        </p:nvSpPr>
        <p:spPr>
          <a:xfrm>
            <a:off x="7416800" y="5359400"/>
            <a:ext cx="18288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运维服务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10400" y="5816600"/>
            <a:ext cx="2235200" cy="863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设备维护、定期校准、现场技术支持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753600" y="5207000"/>
            <a:ext cx="2743200" cy="1651000"/>
          </a:xfrm>
          <a:prstGeom prst="rect">
            <a:avLst/>
          </a:prstGeom>
          <a:solidFill>
            <a:srgbClr val="155494"/>
          </a:solidFill>
        </p:spPr>
      </p:sp>
      <p:sp>
        <p:nvSpPr>
          <p:cNvPr id="35" name="Shape 33"/>
          <p:cNvSpPr/>
          <p:nvPr/>
        </p:nvSpPr>
        <p:spPr>
          <a:xfrm>
            <a:off x="10007600" y="5384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00C9A7"/>
          </a:solidFill>
        </p:spPr>
      </p:sp>
      <p:sp>
        <p:nvSpPr>
          <p:cNvPr id="36" name="Text 34"/>
          <p:cNvSpPr/>
          <p:nvPr/>
        </p:nvSpPr>
        <p:spPr>
          <a:xfrm>
            <a:off x="10414000" y="5359400"/>
            <a:ext cx="18288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模型服务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007600" y="5816600"/>
            <a:ext cx="2235200" cy="863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区域藻种库建设、定制化模型训练与升级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2750800" y="5207000"/>
            <a:ext cx="2743200" cy="1651000"/>
          </a:xfrm>
          <a:prstGeom prst="rect">
            <a:avLst/>
          </a:prstGeom>
          <a:solidFill>
            <a:srgbClr val="1A6098"/>
          </a:solidFill>
        </p:spPr>
      </p:sp>
      <p:sp>
        <p:nvSpPr>
          <p:cNvPr id="39" name="Shape 37"/>
          <p:cNvSpPr/>
          <p:nvPr/>
        </p:nvSpPr>
        <p:spPr>
          <a:xfrm>
            <a:off x="12985750" y="5384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60080" y="50721"/>
                </a:moveTo>
                <a:lnTo>
                  <a:pt x="90666" y="127873"/>
                </a:lnTo>
                <a:cubicBezTo>
                  <a:pt x="87928" y="130909"/>
                  <a:pt x="88047" y="135612"/>
                  <a:pt x="90964" y="138529"/>
                </a:cubicBezTo>
                <a:cubicBezTo>
                  <a:pt x="109121" y="156686"/>
                  <a:pt x="138589" y="156686"/>
                  <a:pt x="156746" y="138529"/>
                </a:cubicBezTo>
                <a:lnTo>
                  <a:pt x="175677" y="119598"/>
                </a:lnTo>
                <a:cubicBezTo>
                  <a:pt x="178177" y="117098"/>
                  <a:pt x="181332" y="115729"/>
                  <a:pt x="184547" y="115491"/>
                </a:cubicBezTo>
                <a:cubicBezTo>
                  <a:pt x="188595" y="115133"/>
                  <a:pt x="192762" y="116503"/>
                  <a:pt x="195858" y="119598"/>
                </a:cubicBezTo>
                <a:lnTo>
                  <a:pt x="300990" y="223838"/>
                </a:lnTo>
                <a:lnTo>
                  <a:pt x="342900" y="190500"/>
                </a:lnTo>
                <a:lnTo>
                  <a:pt x="342900" y="19050"/>
                </a:lnTo>
                <a:lnTo>
                  <a:pt x="276225" y="57150"/>
                </a:lnTo>
                <a:lnTo>
                  <a:pt x="262057" y="47685"/>
                </a:lnTo>
                <a:cubicBezTo>
                  <a:pt x="252651" y="41434"/>
                  <a:pt x="241637" y="38100"/>
                  <a:pt x="230326" y="38100"/>
                </a:cubicBezTo>
                <a:lnTo>
                  <a:pt x="188416" y="38100"/>
                </a:lnTo>
                <a:cubicBezTo>
                  <a:pt x="187762" y="38100"/>
                  <a:pt x="187047" y="38100"/>
                  <a:pt x="186392" y="38160"/>
                </a:cubicBezTo>
                <a:cubicBezTo>
                  <a:pt x="176332" y="38695"/>
                  <a:pt x="166866" y="43220"/>
                  <a:pt x="160080" y="50721"/>
                </a:cubicBezTo>
                <a:close/>
                <a:moveTo>
                  <a:pt x="69413" y="108764"/>
                </a:moveTo>
                <a:lnTo>
                  <a:pt x="132993" y="38100"/>
                </a:lnTo>
                <a:lnTo>
                  <a:pt x="109418" y="38100"/>
                </a:lnTo>
                <a:cubicBezTo>
                  <a:pt x="94238" y="38100"/>
                  <a:pt x="79712" y="44113"/>
                  <a:pt x="68997" y="54828"/>
                </a:cubicBezTo>
                <a:lnTo>
                  <a:pt x="66675" y="57150"/>
                </a:lnTo>
                <a:lnTo>
                  <a:pt x="0" y="19050"/>
                </a:lnTo>
                <a:lnTo>
                  <a:pt x="0" y="190500"/>
                </a:lnTo>
                <a:lnTo>
                  <a:pt x="93107" y="268069"/>
                </a:lnTo>
                <a:cubicBezTo>
                  <a:pt x="106799" y="279499"/>
                  <a:pt x="124063" y="285750"/>
                  <a:pt x="141863" y="285750"/>
                </a:cubicBezTo>
                <a:lnTo>
                  <a:pt x="151209" y="285750"/>
                </a:lnTo>
                <a:lnTo>
                  <a:pt x="147042" y="281583"/>
                </a:lnTo>
                <a:cubicBezTo>
                  <a:pt x="141446" y="275987"/>
                  <a:pt x="141446" y="266938"/>
                  <a:pt x="147042" y="261402"/>
                </a:cubicBezTo>
                <a:cubicBezTo>
                  <a:pt x="152638" y="255865"/>
                  <a:pt x="161687" y="255806"/>
                  <a:pt x="167223" y="261402"/>
                </a:cubicBezTo>
                <a:lnTo>
                  <a:pt x="191631" y="285810"/>
                </a:lnTo>
                <a:lnTo>
                  <a:pt x="196989" y="285810"/>
                </a:lnTo>
                <a:cubicBezTo>
                  <a:pt x="208359" y="285810"/>
                  <a:pt x="219492" y="283250"/>
                  <a:pt x="229612" y="278487"/>
                </a:cubicBezTo>
                <a:lnTo>
                  <a:pt x="213717" y="262533"/>
                </a:lnTo>
                <a:cubicBezTo>
                  <a:pt x="208121" y="256937"/>
                  <a:pt x="208121" y="247888"/>
                  <a:pt x="213717" y="242352"/>
                </a:cubicBezTo>
                <a:cubicBezTo>
                  <a:pt x="219313" y="236815"/>
                  <a:pt x="228362" y="236756"/>
                  <a:pt x="233898" y="242352"/>
                </a:cubicBezTo>
                <a:lnTo>
                  <a:pt x="252948" y="261402"/>
                </a:lnTo>
                <a:lnTo>
                  <a:pt x="263366" y="250984"/>
                </a:lnTo>
                <a:cubicBezTo>
                  <a:pt x="268665" y="245685"/>
                  <a:pt x="270212" y="238006"/>
                  <a:pt x="267891" y="231279"/>
                </a:cubicBezTo>
                <a:lnTo>
                  <a:pt x="185797" y="149840"/>
                </a:lnTo>
                <a:lnTo>
                  <a:pt x="176927" y="158710"/>
                </a:lnTo>
                <a:cubicBezTo>
                  <a:pt x="147578" y="188059"/>
                  <a:pt x="100072" y="188059"/>
                  <a:pt x="70723" y="158710"/>
                </a:cubicBezTo>
                <a:cubicBezTo>
                  <a:pt x="57031" y="145018"/>
                  <a:pt x="56495" y="123051"/>
                  <a:pt x="69413" y="108704"/>
                </a:cubicBezTo>
                <a:close/>
              </a:path>
            </a:pathLst>
          </a:custGeom>
          <a:solidFill>
            <a:srgbClr val="00C9A7"/>
          </a:solidFill>
        </p:spPr>
      </p:sp>
      <p:sp>
        <p:nvSpPr>
          <p:cNvPr id="40" name="Text 38"/>
          <p:cNvSpPr/>
          <p:nvPr/>
        </p:nvSpPr>
        <p:spPr>
          <a:xfrm>
            <a:off x="13411200" y="5359400"/>
            <a:ext cx="18288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试点租赁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3004800" y="5816600"/>
            <a:ext cx="2235200" cy="863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降低使用门槛，完成样机验证和数据积累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62000" y="7239000"/>
            <a:ext cx="14732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前期以</a:t>
            </a:r>
            <a:r>
              <a:rPr lang="en-US" sz="1600" b="1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试点租赁+基础版</a:t>
            </a: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降低门槛 → 中期以</a:t>
            </a:r>
            <a:r>
              <a:rPr lang="en-US" sz="1600" b="1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标准版</a:t>
            </a: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规模化推广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→ 后期以</a:t>
            </a:r>
            <a:r>
              <a:rPr lang="en-US" sz="1600" b="1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联网定制版</a:t>
            </a:r>
            <a:r>
              <a:rPr lang="en-US" sz="16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提供高价值项目制服务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62000" y="87884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14732000" y="88392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hl54qt7z4deq/mnt/agents/output/zaoyingzhiwei/images/bg_reference.png"/>
          <p:cNvPicPr>
            <a:picLocks noChangeAspect="1"/>
          </p:cNvPicPr>
          <p:nvPr/>
        </p:nvPicPr>
        <p:blipFill>
          <a:blip r:embed="rId1"/>
          <a:srcRect l="40000" t="10000" r="10000" b="30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71A33">
                  <a:alpha val="91000"/>
                </a:srgbClr>
              </a:gs>
              <a:gs pos="55000">
                <a:srgbClr val="071A33">
                  <a:alpha val="82000"/>
                </a:srgbClr>
              </a:gs>
              <a:gs pos="100000">
                <a:srgbClr val="071A33">
                  <a:alpha val="38000"/>
                </a:srgbClr>
              </a:gs>
            </a:gsLst>
            <a:lin ang="0" scaled="1"/>
          </a:gradFill>
        </p:spPr>
      </p:sp>
      <p:sp>
        <p:nvSpPr>
          <p:cNvPr id="4" name="Text 1"/>
          <p:cNvSpPr/>
          <p:nvPr/>
        </p:nvSpPr>
        <p:spPr>
          <a:xfrm>
            <a:off x="1270000" y="2794000"/>
            <a:ext cx="2540000" cy="1143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70000" y="4064000"/>
            <a:ext cx="762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团队与财务规划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70000" y="48260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56471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复合型团队支撑项目全链条落地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270000" y="3937000"/>
            <a:ext cx="635000" cy="50800"/>
          </a:xfrm>
          <a:prstGeom prst="rect">
            <a:avLst/>
          </a:prstGeom>
          <a:solidFill>
            <a:srgbClr val="00C9A7"/>
          </a:solidFill>
        </p:spPr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 团队与财务规划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270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团队介绍：硬件-算法-偏振成像-商业转化复合型人才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762000" y="1651000"/>
            <a:ext cx="14732000" cy="863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团队形成了</a:t>
            </a:r>
            <a:r>
              <a:rPr lang="en-US" sz="1700" b="1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"硬件-算法-偏振成像-商业转化"</a:t>
            </a:r>
            <a:r>
              <a:rPr lang="en-US" sz="17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复合型队伍结构，专业背景覆盖光电信息、仪器科学、市场营销等方向，支撑从技术研究到商业推广的完整链条。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667000"/>
            <a:ext cx="3429000" cy="304800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B2D5B">
                <a:alpha val="705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41400" y="28956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91532" y="-10319"/>
                </a:moveTo>
                <a:cubicBezTo>
                  <a:pt x="182483" y="-12144"/>
                  <a:pt x="173196" y="-12144"/>
                  <a:pt x="164148" y="-10319"/>
                </a:cubicBezTo>
                <a:lnTo>
                  <a:pt x="15319" y="19447"/>
                </a:lnTo>
                <a:cubicBezTo>
                  <a:pt x="6429" y="21193"/>
                  <a:pt x="0" y="29051"/>
                  <a:pt x="0" y="38100"/>
                </a:cubicBezTo>
                <a:cubicBezTo>
                  <a:pt x="0" y="46276"/>
                  <a:pt x="5159" y="53419"/>
                  <a:pt x="12700" y="56039"/>
                </a:cubicBezTo>
                <a:lnTo>
                  <a:pt x="12700" y="114300"/>
                </a:lnTo>
                <a:lnTo>
                  <a:pt x="238" y="176689"/>
                </a:lnTo>
                <a:cubicBezTo>
                  <a:pt x="79" y="177403"/>
                  <a:pt x="0" y="178197"/>
                  <a:pt x="0" y="178991"/>
                </a:cubicBezTo>
                <a:cubicBezTo>
                  <a:pt x="0" y="185341"/>
                  <a:pt x="5159" y="190579"/>
                  <a:pt x="11589" y="190579"/>
                </a:cubicBezTo>
                <a:lnTo>
                  <a:pt x="39291" y="190579"/>
                </a:lnTo>
                <a:cubicBezTo>
                  <a:pt x="45641" y="190579"/>
                  <a:pt x="50879" y="185420"/>
                  <a:pt x="50879" y="178991"/>
                </a:cubicBezTo>
                <a:cubicBezTo>
                  <a:pt x="50879" y="178197"/>
                  <a:pt x="50800" y="177483"/>
                  <a:pt x="50641" y="176689"/>
                </a:cubicBezTo>
                <a:lnTo>
                  <a:pt x="38100" y="114300"/>
                </a:lnTo>
                <a:lnTo>
                  <a:pt x="38100" y="61357"/>
                </a:lnTo>
                <a:lnTo>
                  <a:pt x="76200" y="68977"/>
                </a:lnTo>
                <a:lnTo>
                  <a:pt x="76200" y="114300"/>
                </a:lnTo>
                <a:cubicBezTo>
                  <a:pt x="76200" y="170418"/>
                  <a:pt x="121682" y="215900"/>
                  <a:pt x="177800" y="215900"/>
                </a:cubicBezTo>
                <a:cubicBezTo>
                  <a:pt x="233918" y="215900"/>
                  <a:pt x="279400" y="170418"/>
                  <a:pt x="279400" y="114300"/>
                </a:cubicBezTo>
                <a:lnTo>
                  <a:pt x="279400" y="68977"/>
                </a:lnTo>
                <a:lnTo>
                  <a:pt x="340281" y="56833"/>
                </a:lnTo>
                <a:cubicBezTo>
                  <a:pt x="349171" y="55007"/>
                  <a:pt x="355600" y="47149"/>
                  <a:pt x="355600" y="38100"/>
                </a:cubicBezTo>
                <a:cubicBezTo>
                  <a:pt x="355600" y="29051"/>
                  <a:pt x="349171" y="21193"/>
                  <a:pt x="340281" y="19447"/>
                </a:cubicBezTo>
                <a:lnTo>
                  <a:pt x="191532" y="-10319"/>
                </a:lnTo>
                <a:close/>
                <a:moveTo>
                  <a:pt x="177800" y="177800"/>
                </a:moveTo>
                <a:cubicBezTo>
                  <a:pt x="142716" y="177800"/>
                  <a:pt x="114300" y="149384"/>
                  <a:pt x="114300" y="114300"/>
                </a:cubicBezTo>
                <a:lnTo>
                  <a:pt x="241300" y="114300"/>
                </a:lnTo>
                <a:cubicBezTo>
                  <a:pt x="241300" y="149384"/>
                  <a:pt x="212884" y="177800"/>
                  <a:pt x="177800" y="177800"/>
                </a:cubicBezTo>
                <a:close/>
                <a:moveTo>
                  <a:pt x="95329" y="254079"/>
                </a:moveTo>
                <a:cubicBezTo>
                  <a:pt x="46593" y="276463"/>
                  <a:pt x="12700" y="325676"/>
                  <a:pt x="12700" y="382826"/>
                </a:cubicBezTo>
                <a:cubicBezTo>
                  <a:pt x="12700" y="395843"/>
                  <a:pt x="23257" y="406400"/>
                  <a:pt x="36274" y="406400"/>
                </a:cubicBezTo>
                <a:lnTo>
                  <a:pt x="158750" y="406400"/>
                </a:lnTo>
                <a:lnTo>
                  <a:pt x="158750" y="290513"/>
                </a:lnTo>
                <a:lnTo>
                  <a:pt x="113189" y="256381"/>
                </a:lnTo>
                <a:cubicBezTo>
                  <a:pt x="108029" y="252492"/>
                  <a:pt x="101124" y="251460"/>
                  <a:pt x="95250" y="254159"/>
                </a:cubicBezTo>
                <a:close/>
                <a:moveTo>
                  <a:pt x="196850" y="406400"/>
                </a:moveTo>
                <a:lnTo>
                  <a:pt x="319326" y="406400"/>
                </a:lnTo>
                <a:cubicBezTo>
                  <a:pt x="332343" y="406400"/>
                  <a:pt x="342900" y="395843"/>
                  <a:pt x="342900" y="382826"/>
                </a:cubicBezTo>
                <a:cubicBezTo>
                  <a:pt x="342900" y="325676"/>
                  <a:pt x="309007" y="276463"/>
                  <a:pt x="260271" y="254159"/>
                </a:cubicBezTo>
                <a:cubicBezTo>
                  <a:pt x="254397" y="251460"/>
                  <a:pt x="247491" y="252492"/>
                  <a:pt x="242332" y="256381"/>
                </a:cubicBezTo>
                <a:lnTo>
                  <a:pt x="196771" y="290513"/>
                </a:lnTo>
                <a:lnTo>
                  <a:pt x="196771" y="406400"/>
                </a:lnTo>
                <a:close/>
              </a:path>
            </a:pathLst>
          </a:custGeom>
          <a:solidFill>
            <a:srgbClr val="00C9A7"/>
          </a:solidFill>
        </p:spPr>
      </p:sp>
      <p:sp>
        <p:nvSpPr>
          <p:cNvPr id="8" name="Text 6"/>
          <p:cNvSpPr/>
          <p:nvPr/>
        </p:nvSpPr>
        <p:spPr>
          <a:xfrm>
            <a:off x="1016000" y="3454400"/>
            <a:ext cx="2921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技术研发核心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886200"/>
            <a:ext cx="2921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队长发表两篇偏振成像方向论文，具备高水平科研与竞赛经验，负责技术执行与团队协同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1200" y="2667000"/>
            <a:ext cx="3429000" cy="304800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B2D5B">
                <a:alpha val="705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4400" y="28956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330121" y="167084"/>
                </a:moveTo>
                <a:cubicBezTo>
                  <a:pt x="339804" y="164465"/>
                  <a:pt x="349964" y="169069"/>
                  <a:pt x="354330" y="178038"/>
                </a:cubicBezTo>
                <a:lnTo>
                  <a:pt x="369094" y="207883"/>
                </a:lnTo>
                <a:cubicBezTo>
                  <a:pt x="377269" y="208994"/>
                  <a:pt x="385286" y="211217"/>
                  <a:pt x="392827" y="214313"/>
                </a:cubicBezTo>
                <a:lnTo>
                  <a:pt x="420608" y="195818"/>
                </a:lnTo>
                <a:cubicBezTo>
                  <a:pt x="428943" y="190262"/>
                  <a:pt x="439976" y="191373"/>
                  <a:pt x="447040" y="198438"/>
                </a:cubicBezTo>
                <a:lnTo>
                  <a:pt x="462280" y="213678"/>
                </a:lnTo>
                <a:cubicBezTo>
                  <a:pt x="469344" y="220742"/>
                  <a:pt x="470456" y="231854"/>
                  <a:pt x="464899" y="240109"/>
                </a:cubicBezTo>
                <a:lnTo>
                  <a:pt x="446405" y="267811"/>
                </a:lnTo>
                <a:cubicBezTo>
                  <a:pt x="447913" y="271542"/>
                  <a:pt x="449263" y="275431"/>
                  <a:pt x="450374" y="279479"/>
                </a:cubicBezTo>
                <a:cubicBezTo>
                  <a:pt x="451485" y="283528"/>
                  <a:pt x="452199" y="287496"/>
                  <a:pt x="452755" y="291544"/>
                </a:cubicBezTo>
                <a:lnTo>
                  <a:pt x="482679" y="306308"/>
                </a:lnTo>
                <a:cubicBezTo>
                  <a:pt x="491649" y="310753"/>
                  <a:pt x="496253" y="320913"/>
                  <a:pt x="493633" y="330518"/>
                </a:cubicBezTo>
                <a:lnTo>
                  <a:pt x="488077" y="351314"/>
                </a:lnTo>
                <a:cubicBezTo>
                  <a:pt x="485458" y="360918"/>
                  <a:pt x="476488" y="367427"/>
                  <a:pt x="466487" y="366792"/>
                </a:cubicBezTo>
                <a:lnTo>
                  <a:pt x="433149" y="364649"/>
                </a:lnTo>
                <a:cubicBezTo>
                  <a:pt x="428149" y="371078"/>
                  <a:pt x="422354" y="377031"/>
                  <a:pt x="415766" y="382111"/>
                </a:cubicBezTo>
                <a:lnTo>
                  <a:pt x="417909" y="415369"/>
                </a:lnTo>
                <a:cubicBezTo>
                  <a:pt x="418544" y="425371"/>
                  <a:pt x="412036" y="434419"/>
                  <a:pt x="402431" y="436959"/>
                </a:cubicBezTo>
                <a:lnTo>
                  <a:pt x="381635" y="442516"/>
                </a:lnTo>
                <a:cubicBezTo>
                  <a:pt x="371951" y="445135"/>
                  <a:pt x="361871" y="440531"/>
                  <a:pt x="357426" y="431562"/>
                </a:cubicBezTo>
                <a:lnTo>
                  <a:pt x="342662" y="401717"/>
                </a:lnTo>
                <a:cubicBezTo>
                  <a:pt x="334486" y="400606"/>
                  <a:pt x="326469" y="398383"/>
                  <a:pt x="318929" y="395288"/>
                </a:cubicBezTo>
                <a:lnTo>
                  <a:pt x="291148" y="413782"/>
                </a:lnTo>
                <a:cubicBezTo>
                  <a:pt x="282813" y="419338"/>
                  <a:pt x="271780" y="418227"/>
                  <a:pt x="264716" y="411163"/>
                </a:cubicBezTo>
                <a:lnTo>
                  <a:pt x="249476" y="395923"/>
                </a:lnTo>
                <a:cubicBezTo>
                  <a:pt x="242411" y="388858"/>
                  <a:pt x="241300" y="377825"/>
                  <a:pt x="246856" y="369491"/>
                </a:cubicBezTo>
                <a:lnTo>
                  <a:pt x="265351" y="341709"/>
                </a:lnTo>
                <a:cubicBezTo>
                  <a:pt x="263843" y="337979"/>
                  <a:pt x="262493" y="334089"/>
                  <a:pt x="261382" y="330041"/>
                </a:cubicBezTo>
                <a:cubicBezTo>
                  <a:pt x="260271" y="325993"/>
                  <a:pt x="259556" y="321945"/>
                  <a:pt x="259001" y="317976"/>
                </a:cubicBezTo>
                <a:lnTo>
                  <a:pt x="229076" y="303213"/>
                </a:lnTo>
                <a:cubicBezTo>
                  <a:pt x="220107" y="298768"/>
                  <a:pt x="215583" y="288608"/>
                  <a:pt x="218123" y="279003"/>
                </a:cubicBezTo>
                <a:lnTo>
                  <a:pt x="223679" y="258207"/>
                </a:lnTo>
                <a:cubicBezTo>
                  <a:pt x="226298" y="248602"/>
                  <a:pt x="235268" y="242094"/>
                  <a:pt x="245269" y="242729"/>
                </a:cubicBezTo>
                <a:lnTo>
                  <a:pt x="278527" y="244872"/>
                </a:lnTo>
                <a:cubicBezTo>
                  <a:pt x="283528" y="238442"/>
                  <a:pt x="289322" y="232489"/>
                  <a:pt x="295910" y="227409"/>
                </a:cubicBezTo>
                <a:lnTo>
                  <a:pt x="293767" y="194231"/>
                </a:lnTo>
                <a:cubicBezTo>
                  <a:pt x="293132" y="184229"/>
                  <a:pt x="299641" y="175181"/>
                  <a:pt x="309245" y="172641"/>
                </a:cubicBezTo>
                <a:lnTo>
                  <a:pt x="330041" y="167084"/>
                </a:lnTo>
                <a:close/>
                <a:moveTo>
                  <a:pt x="355918" y="269875"/>
                </a:moveTo>
                <a:cubicBezTo>
                  <a:pt x="336642" y="269897"/>
                  <a:pt x="321010" y="285564"/>
                  <a:pt x="321032" y="304840"/>
                </a:cubicBezTo>
                <a:cubicBezTo>
                  <a:pt x="321054" y="324115"/>
                  <a:pt x="336721" y="339747"/>
                  <a:pt x="355997" y="339725"/>
                </a:cubicBezTo>
                <a:cubicBezTo>
                  <a:pt x="375273" y="339703"/>
                  <a:pt x="390904" y="324036"/>
                  <a:pt x="390882" y="304760"/>
                </a:cubicBezTo>
                <a:cubicBezTo>
                  <a:pt x="390860" y="285485"/>
                  <a:pt x="375193" y="269853"/>
                  <a:pt x="355918" y="269875"/>
                </a:cubicBezTo>
                <a:close/>
                <a:moveTo>
                  <a:pt x="178514" y="-36116"/>
                </a:moveTo>
                <a:lnTo>
                  <a:pt x="199311" y="-30559"/>
                </a:lnTo>
                <a:cubicBezTo>
                  <a:pt x="208915" y="-27940"/>
                  <a:pt x="215424" y="-18891"/>
                  <a:pt x="214789" y="-8969"/>
                </a:cubicBezTo>
                <a:lnTo>
                  <a:pt x="212646" y="24209"/>
                </a:lnTo>
                <a:cubicBezTo>
                  <a:pt x="219234" y="29289"/>
                  <a:pt x="225028" y="35163"/>
                  <a:pt x="230029" y="41672"/>
                </a:cubicBezTo>
                <a:lnTo>
                  <a:pt x="263366" y="39529"/>
                </a:lnTo>
                <a:cubicBezTo>
                  <a:pt x="273288" y="38894"/>
                  <a:pt x="282337" y="45403"/>
                  <a:pt x="284956" y="55007"/>
                </a:cubicBezTo>
                <a:lnTo>
                  <a:pt x="290513" y="75803"/>
                </a:lnTo>
                <a:cubicBezTo>
                  <a:pt x="293053" y="85408"/>
                  <a:pt x="288528" y="95568"/>
                  <a:pt x="279559" y="100013"/>
                </a:cubicBezTo>
                <a:lnTo>
                  <a:pt x="249634" y="114776"/>
                </a:lnTo>
                <a:cubicBezTo>
                  <a:pt x="249079" y="118824"/>
                  <a:pt x="248285" y="122873"/>
                  <a:pt x="247253" y="126841"/>
                </a:cubicBezTo>
                <a:cubicBezTo>
                  <a:pt x="246221" y="130810"/>
                  <a:pt x="244793" y="134779"/>
                  <a:pt x="243284" y="138509"/>
                </a:cubicBezTo>
                <a:lnTo>
                  <a:pt x="261779" y="166291"/>
                </a:lnTo>
                <a:cubicBezTo>
                  <a:pt x="267335" y="174625"/>
                  <a:pt x="266224" y="185658"/>
                  <a:pt x="259159" y="192722"/>
                </a:cubicBezTo>
                <a:lnTo>
                  <a:pt x="243919" y="207963"/>
                </a:lnTo>
                <a:cubicBezTo>
                  <a:pt x="236855" y="215027"/>
                  <a:pt x="225822" y="216138"/>
                  <a:pt x="217488" y="210582"/>
                </a:cubicBezTo>
                <a:lnTo>
                  <a:pt x="189706" y="192088"/>
                </a:lnTo>
                <a:cubicBezTo>
                  <a:pt x="182166" y="195183"/>
                  <a:pt x="174149" y="197406"/>
                  <a:pt x="165973" y="198517"/>
                </a:cubicBezTo>
                <a:lnTo>
                  <a:pt x="151209" y="228362"/>
                </a:lnTo>
                <a:cubicBezTo>
                  <a:pt x="146764" y="237331"/>
                  <a:pt x="136604" y="241856"/>
                  <a:pt x="127000" y="239316"/>
                </a:cubicBezTo>
                <a:lnTo>
                  <a:pt x="106204" y="233759"/>
                </a:lnTo>
                <a:cubicBezTo>
                  <a:pt x="96520" y="231140"/>
                  <a:pt x="90091" y="222091"/>
                  <a:pt x="90726" y="212169"/>
                </a:cubicBezTo>
                <a:lnTo>
                  <a:pt x="92869" y="178911"/>
                </a:lnTo>
                <a:cubicBezTo>
                  <a:pt x="86281" y="173831"/>
                  <a:pt x="80486" y="167958"/>
                  <a:pt x="75486" y="161449"/>
                </a:cubicBezTo>
                <a:lnTo>
                  <a:pt x="42148" y="163592"/>
                </a:lnTo>
                <a:cubicBezTo>
                  <a:pt x="32226" y="164227"/>
                  <a:pt x="23178" y="157718"/>
                  <a:pt x="20558" y="148114"/>
                </a:cubicBezTo>
                <a:lnTo>
                  <a:pt x="15002" y="127318"/>
                </a:lnTo>
                <a:cubicBezTo>
                  <a:pt x="12462" y="117713"/>
                  <a:pt x="16986" y="107553"/>
                  <a:pt x="25956" y="103108"/>
                </a:cubicBezTo>
                <a:lnTo>
                  <a:pt x="55880" y="88344"/>
                </a:lnTo>
                <a:cubicBezTo>
                  <a:pt x="56436" y="84296"/>
                  <a:pt x="57229" y="80328"/>
                  <a:pt x="58261" y="76279"/>
                </a:cubicBezTo>
                <a:cubicBezTo>
                  <a:pt x="59373" y="72231"/>
                  <a:pt x="60643" y="68342"/>
                  <a:pt x="62230" y="64611"/>
                </a:cubicBezTo>
                <a:lnTo>
                  <a:pt x="43736" y="36909"/>
                </a:lnTo>
                <a:cubicBezTo>
                  <a:pt x="38179" y="28575"/>
                  <a:pt x="39291" y="17542"/>
                  <a:pt x="46355" y="10478"/>
                </a:cubicBezTo>
                <a:lnTo>
                  <a:pt x="61595" y="-4762"/>
                </a:lnTo>
                <a:cubicBezTo>
                  <a:pt x="68659" y="-11827"/>
                  <a:pt x="79693" y="-12938"/>
                  <a:pt x="88027" y="-7382"/>
                </a:cubicBezTo>
                <a:lnTo>
                  <a:pt x="115808" y="11113"/>
                </a:lnTo>
                <a:cubicBezTo>
                  <a:pt x="123349" y="8017"/>
                  <a:pt x="131366" y="5794"/>
                  <a:pt x="139541" y="4683"/>
                </a:cubicBezTo>
                <a:lnTo>
                  <a:pt x="154305" y="-25162"/>
                </a:lnTo>
                <a:cubicBezTo>
                  <a:pt x="158750" y="-34131"/>
                  <a:pt x="168831" y="-38656"/>
                  <a:pt x="178514" y="-36116"/>
                </a:cubicBezTo>
                <a:close/>
                <a:moveTo>
                  <a:pt x="152718" y="66675"/>
                </a:moveTo>
                <a:cubicBezTo>
                  <a:pt x="133442" y="66675"/>
                  <a:pt x="117793" y="82324"/>
                  <a:pt x="117793" y="101600"/>
                </a:cubicBezTo>
                <a:cubicBezTo>
                  <a:pt x="117793" y="120876"/>
                  <a:pt x="133442" y="136525"/>
                  <a:pt x="152718" y="136525"/>
                </a:cubicBezTo>
                <a:cubicBezTo>
                  <a:pt x="171993" y="136525"/>
                  <a:pt x="187643" y="120876"/>
                  <a:pt x="187643" y="101600"/>
                </a:cubicBezTo>
                <a:cubicBezTo>
                  <a:pt x="187643" y="82324"/>
                  <a:pt x="171993" y="66675"/>
                  <a:pt x="152718" y="66675"/>
                </a:cubicBezTo>
                <a:close/>
              </a:path>
            </a:pathLst>
          </a:custGeom>
          <a:solidFill>
            <a:srgbClr val="00C9A7"/>
          </a:solidFill>
        </p:spPr>
      </p:sp>
      <p:sp>
        <p:nvSpPr>
          <p:cNvPr id="12" name="Text 10"/>
          <p:cNvSpPr/>
          <p:nvPr/>
        </p:nvSpPr>
        <p:spPr>
          <a:xfrm>
            <a:off x="4775200" y="3454400"/>
            <a:ext cx="2921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硬件与系统集成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75200" y="3886200"/>
            <a:ext cx="2921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核心技术成员具备仪器科学、成像技术知识基础，为系统稳定性和可实现性提供保障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80400" y="2667000"/>
            <a:ext cx="3429000" cy="304800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B2D5B">
                <a:alpha val="705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9000" y="28956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86385" y="953"/>
                </a:moveTo>
                <a:cubicBezTo>
                  <a:pt x="272891" y="-2937"/>
                  <a:pt x="258842" y="4921"/>
                  <a:pt x="254953" y="18415"/>
                </a:cubicBezTo>
                <a:lnTo>
                  <a:pt x="153353" y="374015"/>
                </a:lnTo>
                <a:cubicBezTo>
                  <a:pt x="149463" y="387509"/>
                  <a:pt x="157321" y="401558"/>
                  <a:pt x="170815" y="405448"/>
                </a:cubicBezTo>
                <a:cubicBezTo>
                  <a:pt x="184309" y="409337"/>
                  <a:pt x="198358" y="401479"/>
                  <a:pt x="202248" y="387985"/>
                </a:cubicBezTo>
                <a:lnTo>
                  <a:pt x="303848" y="32385"/>
                </a:lnTo>
                <a:cubicBezTo>
                  <a:pt x="307737" y="18891"/>
                  <a:pt x="299879" y="4842"/>
                  <a:pt x="286385" y="953"/>
                </a:cubicBezTo>
                <a:close/>
                <a:moveTo>
                  <a:pt x="337661" y="108982"/>
                </a:moveTo>
                <a:cubicBezTo>
                  <a:pt x="327739" y="118904"/>
                  <a:pt x="327739" y="135017"/>
                  <a:pt x="337661" y="144939"/>
                </a:cubicBezTo>
                <a:lnTo>
                  <a:pt x="395922" y="203200"/>
                </a:lnTo>
                <a:lnTo>
                  <a:pt x="337661" y="261461"/>
                </a:lnTo>
                <a:cubicBezTo>
                  <a:pt x="327739" y="271383"/>
                  <a:pt x="327739" y="287496"/>
                  <a:pt x="337661" y="297418"/>
                </a:cubicBezTo>
                <a:cubicBezTo>
                  <a:pt x="347583" y="307340"/>
                  <a:pt x="363696" y="307340"/>
                  <a:pt x="373618" y="297418"/>
                </a:cubicBezTo>
                <a:lnTo>
                  <a:pt x="449818" y="221218"/>
                </a:lnTo>
                <a:cubicBezTo>
                  <a:pt x="459740" y="211296"/>
                  <a:pt x="459740" y="195183"/>
                  <a:pt x="449818" y="185261"/>
                </a:cubicBezTo>
                <a:lnTo>
                  <a:pt x="373618" y="109061"/>
                </a:lnTo>
                <a:cubicBezTo>
                  <a:pt x="363696" y="99139"/>
                  <a:pt x="347583" y="99139"/>
                  <a:pt x="337661" y="109061"/>
                </a:cubicBezTo>
                <a:close/>
                <a:moveTo>
                  <a:pt x="119618" y="108982"/>
                </a:moveTo>
                <a:cubicBezTo>
                  <a:pt x="109696" y="99060"/>
                  <a:pt x="93583" y="99060"/>
                  <a:pt x="83661" y="108982"/>
                </a:cubicBezTo>
                <a:lnTo>
                  <a:pt x="7461" y="185182"/>
                </a:lnTo>
                <a:cubicBezTo>
                  <a:pt x="-2461" y="195104"/>
                  <a:pt x="-2461" y="211217"/>
                  <a:pt x="7461" y="221139"/>
                </a:cubicBezTo>
                <a:lnTo>
                  <a:pt x="83661" y="297339"/>
                </a:lnTo>
                <a:cubicBezTo>
                  <a:pt x="93583" y="307261"/>
                  <a:pt x="109696" y="307261"/>
                  <a:pt x="119618" y="297339"/>
                </a:cubicBezTo>
                <a:cubicBezTo>
                  <a:pt x="129540" y="287417"/>
                  <a:pt x="129540" y="271304"/>
                  <a:pt x="119618" y="261382"/>
                </a:cubicBezTo>
                <a:lnTo>
                  <a:pt x="61357" y="203200"/>
                </a:lnTo>
                <a:lnTo>
                  <a:pt x="119539" y="144939"/>
                </a:lnTo>
                <a:cubicBezTo>
                  <a:pt x="129461" y="135017"/>
                  <a:pt x="129461" y="118904"/>
                  <a:pt x="119539" y="108982"/>
                </a:cubicBezTo>
                <a:close/>
              </a:path>
            </a:pathLst>
          </a:custGeom>
          <a:solidFill>
            <a:srgbClr val="00C9A7"/>
          </a:solidFill>
        </p:spPr>
      </p:sp>
      <p:sp>
        <p:nvSpPr>
          <p:cNvPr id="16" name="Text 14"/>
          <p:cNvSpPr/>
          <p:nvPr/>
        </p:nvSpPr>
        <p:spPr>
          <a:xfrm>
            <a:off x="8534400" y="3454400"/>
            <a:ext cx="2921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算法与软件开发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34400" y="3886200"/>
            <a:ext cx="2921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负责RDN网络训练优化、YOLO模型部署、平台前后端开发，构建完整算法链路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039600" y="2667000"/>
            <a:ext cx="3454400" cy="304800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B2D5B">
                <a:alpha val="7059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2268200" y="28956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406718" y="190500"/>
                </a:moveTo>
                <a:lnTo>
                  <a:pt x="267017" y="190500"/>
                </a:lnTo>
                <a:cubicBezTo>
                  <a:pt x="252968" y="190500"/>
                  <a:pt x="241618" y="179149"/>
                  <a:pt x="241618" y="165100"/>
                </a:cubicBezTo>
                <a:lnTo>
                  <a:pt x="241618" y="25400"/>
                </a:lnTo>
                <a:cubicBezTo>
                  <a:pt x="241618" y="11351"/>
                  <a:pt x="253047" y="-159"/>
                  <a:pt x="266938" y="1667"/>
                </a:cubicBezTo>
                <a:cubicBezTo>
                  <a:pt x="351869" y="12938"/>
                  <a:pt x="419179" y="80248"/>
                  <a:pt x="430451" y="165179"/>
                </a:cubicBezTo>
                <a:cubicBezTo>
                  <a:pt x="432276" y="179070"/>
                  <a:pt x="420767" y="190500"/>
                  <a:pt x="406718" y="190500"/>
                </a:cubicBezTo>
                <a:close/>
                <a:moveTo>
                  <a:pt x="176689" y="29528"/>
                </a:moveTo>
                <a:cubicBezTo>
                  <a:pt x="191056" y="26511"/>
                  <a:pt x="203518" y="38259"/>
                  <a:pt x="203518" y="52943"/>
                </a:cubicBezTo>
                <a:lnTo>
                  <a:pt x="203518" y="209550"/>
                </a:lnTo>
                <a:cubicBezTo>
                  <a:pt x="203518" y="213995"/>
                  <a:pt x="205105" y="218281"/>
                  <a:pt x="207883" y="221694"/>
                </a:cubicBezTo>
                <a:lnTo>
                  <a:pt x="312738" y="348218"/>
                </a:lnTo>
                <a:cubicBezTo>
                  <a:pt x="322024" y="359410"/>
                  <a:pt x="320040" y="376317"/>
                  <a:pt x="307261" y="383223"/>
                </a:cubicBezTo>
                <a:cubicBezTo>
                  <a:pt x="280194" y="397986"/>
                  <a:pt x="249158" y="406400"/>
                  <a:pt x="216218" y="406400"/>
                </a:cubicBezTo>
                <a:cubicBezTo>
                  <a:pt x="111046" y="406400"/>
                  <a:pt x="25718" y="321072"/>
                  <a:pt x="25718" y="215900"/>
                </a:cubicBezTo>
                <a:cubicBezTo>
                  <a:pt x="25718" y="124222"/>
                  <a:pt x="90408" y="47704"/>
                  <a:pt x="176689" y="29527"/>
                </a:cubicBezTo>
                <a:close/>
                <a:moveTo>
                  <a:pt x="379254" y="228600"/>
                </a:moveTo>
                <a:lnTo>
                  <a:pt x="430054" y="228600"/>
                </a:lnTo>
                <a:cubicBezTo>
                  <a:pt x="444738" y="228600"/>
                  <a:pt x="456486" y="241062"/>
                  <a:pt x="453469" y="255429"/>
                </a:cubicBezTo>
                <a:cubicBezTo>
                  <a:pt x="445373" y="293846"/>
                  <a:pt x="425688" y="327978"/>
                  <a:pt x="398224" y="354013"/>
                </a:cubicBezTo>
                <a:cubicBezTo>
                  <a:pt x="388461" y="363299"/>
                  <a:pt x="373142" y="361315"/>
                  <a:pt x="364569" y="350917"/>
                </a:cubicBezTo>
                <a:lnTo>
                  <a:pt x="297577" y="270193"/>
                </a:lnTo>
                <a:cubicBezTo>
                  <a:pt x="283845" y="253603"/>
                  <a:pt x="295672" y="228600"/>
                  <a:pt x="317103" y="228600"/>
                </a:cubicBezTo>
                <a:lnTo>
                  <a:pt x="379174" y="228600"/>
                </a:lnTo>
                <a:close/>
              </a:path>
            </a:pathLst>
          </a:custGeom>
          <a:solidFill>
            <a:srgbClr val="00C9A7"/>
          </a:solidFill>
        </p:spPr>
      </p:sp>
      <p:sp>
        <p:nvSpPr>
          <p:cNvPr id="20" name="Text 18"/>
          <p:cNvSpPr/>
          <p:nvPr/>
        </p:nvSpPr>
        <p:spPr>
          <a:xfrm>
            <a:off x="12293600" y="3454400"/>
            <a:ext cx="29464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商业与市场转化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293600" y="3886200"/>
            <a:ext cx="29464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具备市场营销专业背景和充分商业转化经验，负责商业模式设计与客户拓展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096000"/>
            <a:ext cx="14732000" cy="1778000"/>
          </a:xfrm>
          <a:prstGeom prst="rect">
            <a:avLst/>
          </a:prstGeom>
          <a:solidFill>
            <a:srgbClr val="0B2D5B"/>
          </a:solidFill>
        </p:spPr>
      </p:sp>
      <p:sp>
        <p:nvSpPr>
          <p:cNvPr id="23" name="Text 21"/>
          <p:cNvSpPr/>
          <p:nvPr/>
        </p:nvSpPr>
        <p:spPr>
          <a:xfrm>
            <a:off x="1270000" y="6299200"/>
            <a:ext cx="25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指导教师团队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70000" y="6731000"/>
            <a:ext cx="137160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团队老师经验丰富，从技术方案与执行、联系产业、开展实验全方位提供优质指导。依托光电信息科学与工程专业平台，具备偏振光学、图像处理、嵌入式系统等完整实验条件。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87884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14732000" y="88392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 团队与财务规划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270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财务预测：五年累计净收益预计超700万元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762000" y="1651000"/>
            <a:ext cx="3429000" cy="1778000"/>
          </a:xfrm>
          <a:prstGeom prst="rect">
            <a:avLst/>
          </a:prstGeom>
          <a:solidFill>
            <a:srgbClr val="0B2D5B"/>
          </a:solidFill>
        </p:spPr>
      </p:sp>
      <p:sp>
        <p:nvSpPr>
          <p:cNvPr id="6" name="Text 4"/>
          <p:cNvSpPr/>
          <p:nvPr/>
        </p:nvSpPr>
        <p:spPr>
          <a:xfrm>
            <a:off x="1016000" y="1803400"/>
            <a:ext cx="2921000" cy="711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50万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565400"/>
            <a:ext cx="2921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第一年启动资金需求，用于样机试点与外场测试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21200" y="1651000"/>
            <a:ext cx="3429000" cy="1778000"/>
          </a:xfrm>
          <a:prstGeom prst="rect">
            <a:avLst/>
          </a:prstGeom>
          <a:solidFill>
            <a:srgbClr val="0E3A6E"/>
          </a:solidFill>
        </p:spPr>
      </p:sp>
      <p:sp>
        <p:nvSpPr>
          <p:cNvPr id="9" name="Text 7"/>
          <p:cNvSpPr/>
          <p:nvPr/>
        </p:nvSpPr>
        <p:spPr>
          <a:xfrm>
            <a:off x="4775200" y="1803400"/>
            <a:ext cx="2921000" cy="711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Y2平衡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75200" y="2565400"/>
            <a:ext cx="2921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第二年标准版销售增加，项目接近收支平衡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80400" y="1651000"/>
            <a:ext cx="3429000" cy="1778000"/>
          </a:xfrm>
          <a:prstGeom prst="rect">
            <a:avLst/>
          </a:prstGeom>
          <a:solidFill>
            <a:srgbClr val="114780"/>
          </a:solidFill>
        </p:spPr>
      </p:sp>
      <p:sp>
        <p:nvSpPr>
          <p:cNvPr id="12" name="Text 10"/>
          <p:cNvSpPr/>
          <p:nvPr/>
        </p:nvSpPr>
        <p:spPr>
          <a:xfrm>
            <a:off x="8534400" y="1803400"/>
            <a:ext cx="2921000" cy="711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Y3盈利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34400" y="2565400"/>
            <a:ext cx="2921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第三年起平台订阅与服务收入提升，稳定盈利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039600" y="1651000"/>
            <a:ext cx="3454400" cy="1778000"/>
          </a:xfrm>
          <a:prstGeom prst="rect">
            <a:avLst/>
          </a:prstGeom>
          <a:solidFill>
            <a:srgbClr val="155494"/>
          </a:solidFill>
        </p:spPr>
      </p:sp>
      <p:sp>
        <p:nvSpPr>
          <p:cNvPr id="15" name="Text 13"/>
          <p:cNvSpPr/>
          <p:nvPr/>
        </p:nvSpPr>
        <p:spPr>
          <a:xfrm>
            <a:off x="12293600" y="1803400"/>
            <a:ext cx="2946400" cy="711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700万+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293600" y="2565400"/>
            <a:ext cx="29464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五年累计净收益预测，财务风险可控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381000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五年营收与成本预测（万元）</a:t>
            </a:r>
            <a:endParaRPr lang="en-US" sz="16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762000" y="4267200"/>
          <a:ext cx="889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10160000" y="4267200"/>
            <a:ext cx="5334000" cy="381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成本结构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样机成本：1.6~2.4万元/套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第一年启动资金：约50万元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收入演进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前期：硬件销售为主（70%）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中期：平台订阅上升（40%）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后期：服务收入主导（50%）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从一次性硬件转向"设备+平台+模型"复合盈利模式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62000" y="87884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21" name="Text 18"/>
          <p:cNvSpPr/>
          <p:nvPr/>
        </p:nvSpPr>
        <p:spPr>
          <a:xfrm>
            <a:off x="14732000" y="88392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 团队与财务规划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270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社会效益：从被动应急到主动防控的水生态守护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762000" y="1651000"/>
            <a:ext cx="4699000" cy="304800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B2D5B">
                <a:alpha val="705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16000" y="1879600"/>
            <a:ext cx="889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489200"/>
            <a:ext cx="4191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提升藻华早期预警能力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921000"/>
            <a:ext cx="4191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帮助重点水域从被动应急转向主动防控，实现有害藻华的早发现、早预警、早处置，保障水源地安全和生态健康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651000"/>
            <a:ext cx="4699000" cy="304800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B2D5B">
                <a:alpha val="7059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2500" y="1879600"/>
            <a:ext cx="889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2500" y="2489200"/>
            <a:ext cx="4191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降低进口设备依赖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2921000"/>
            <a:ext cx="4191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推动低成本国产化智能监测装备发展，打破高端进口设备垄断，让基层监测站也能用得起专业设备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651000"/>
            <a:ext cx="4699000" cy="3048000"/>
          </a:xfrm>
          <a:prstGeom prst="rect">
            <a:avLst/>
          </a:prstGeom>
          <a:solidFill>
            <a:srgbClr val="FFFFFF"/>
          </a:solidFill>
          <a:effectLst>
            <a:outerShdw blurRad="127000" dist="38100" dir="5400000" algn="bl" rotWithShape="0">
              <a:srgbClr val="0B2D5B">
                <a:alpha val="7059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049000" y="1879600"/>
            <a:ext cx="889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49000" y="2489200"/>
            <a:ext cx="4191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B2D5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积累区域治理数据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2921000"/>
            <a:ext cx="4191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1B2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发展过程中积累各区域藻种分布和水质数据，为区域水环境治理提供长期数据基础和科学决策依据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080000"/>
            <a:ext cx="14732000" cy="2921000"/>
          </a:xfrm>
          <a:prstGeom prst="rect">
            <a:avLst/>
          </a:prstGeom>
          <a:solidFill>
            <a:srgbClr val="0B2D5B"/>
          </a:solidFill>
        </p:spPr>
      </p:sp>
      <p:sp>
        <p:nvSpPr>
          <p:cNvPr id="18" name="Text 16"/>
          <p:cNvSpPr/>
          <p:nvPr/>
        </p:nvSpPr>
        <p:spPr>
          <a:xfrm>
            <a:off x="1270000" y="53086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就业带动效应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0000" y="5816600"/>
            <a:ext cx="13716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项目后续升级可形成光学设计、嵌入式开发、算法标注、平台运维、数据与售后服务等岗位。随着多点布设和平台化服务推进，项目不仅产生设备制造岗位，也会带动监测服务、数据服务和环境治理咨询等新型就业方向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70000" y="6731000"/>
            <a:ext cx="1651000" cy="406400"/>
          </a:xfrm>
          <a:prstGeom prst="rect">
            <a:avLst/>
          </a:prstGeom>
          <a:solidFill>
            <a:srgbClr val="00C9A7">
              <a:alpha val="18824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1270000" y="6731000"/>
            <a:ext cx="1651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光学设计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175000" y="6731000"/>
            <a:ext cx="1651000" cy="406400"/>
          </a:xfrm>
          <a:prstGeom prst="rect">
            <a:avLst/>
          </a:prstGeom>
          <a:solidFill>
            <a:srgbClr val="00C9A7">
              <a:alpha val="18824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3175000" y="6731000"/>
            <a:ext cx="1651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嵌入式开发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80000" y="6731000"/>
            <a:ext cx="1651000" cy="406400"/>
          </a:xfrm>
          <a:prstGeom prst="rect">
            <a:avLst/>
          </a:prstGeom>
          <a:solidFill>
            <a:srgbClr val="00C9A7">
              <a:alpha val="18824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5080000" y="6731000"/>
            <a:ext cx="1651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算法标注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85000" y="6731000"/>
            <a:ext cx="1651000" cy="406400"/>
          </a:xfrm>
          <a:prstGeom prst="rect">
            <a:avLst/>
          </a:prstGeom>
          <a:solidFill>
            <a:srgbClr val="00C9A7">
              <a:alpha val="18824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6985000" y="6731000"/>
            <a:ext cx="1651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平台运维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890000" y="6731000"/>
            <a:ext cx="1651000" cy="406400"/>
          </a:xfrm>
          <a:prstGeom prst="rect">
            <a:avLst/>
          </a:prstGeom>
          <a:solidFill>
            <a:srgbClr val="00C9A7">
              <a:alpha val="18824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8890000" y="6731000"/>
            <a:ext cx="1651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监测服务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795000" y="6731000"/>
            <a:ext cx="1905000" cy="406400"/>
          </a:xfrm>
          <a:prstGeom prst="rect">
            <a:avLst/>
          </a:prstGeom>
          <a:solidFill>
            <a:srgbClr val="00C9A7">
              <a:alpha val="18824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10795000" y="6731000"/>
            <a:ext cx="1905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环境咨询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954000" y="6731000"/>
            <a:ext cx="1651000" cy="406400"/>
          </a:xfrm>
          <a:prstGeom prst="rect">
            <a:avLst/>
          </a:prstGeom>
          <a:solidFill>
            <a:srgbClr val="00C9A7">
              <a:alpha val="18824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12954000" y="6731000"/>
            <a:ext cx="1651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数据服务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2000" y="8788400"/>
            <a:ext cx="14732000" cy="12700"/>
          </a:xfrm>
          <a:prstGeom prst="rect">
            <a:avLst/>
          </a:prstGeom>
          <a:solidFill>
            <a:srgbClr val="3A7CA5">
              <a:alpha val="18824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14732000" y="88392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hl54qt7z4deq/mnt/agents/output/zaoyingzhiwei/images/bg_reference.png"/>
          <p:cNvPicPr>
            <a:picLocks noChangeAspect="1"/>
          </p:cNvPicPr>
          <p:nvPr/>
        </p:nvPicPr>
        <p:blipFill>
          <a:blip r:embed="rId1"/>
          <a:srcRect l="20000" t="20000" r="20000" b="20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1A33">
              <a:alpha val="87843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762000" y="7620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项目亮点与执行摘要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1397000"/>
            <a:ext cx="14732000" cy="12700"/>
          </a:xfrm>
          <a:prstGeom prst="rect">
            <a:avLst/>
          </a:prstGeom>
          <a:solidFill>
            <a:srgbClr val="3A7CA5">
              <a:alpha val="31373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10160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1150" y="177800"/>
                </a:moveTo>
                <a:cubicBezTo>
                  <a:pt x="311150" y="104202"/>
                  <a:pt x="251398" y="44450"/>
                  <a:pt x="177800" y="44450"/>
                </a:cubicBezTo>
                <a:cubicBezTo>
                  <a:pt x="104202" y="44450"/>
                  <a:pt x="44450" y="104202"/>
                  <a:pt x="44450" y="177800"/>
                </a:cubicBezTo>
                <a:cubicBezTo>
                  <a:pt x="44450" y="251398"/>
                  <a:pt x="104202" y="311150"/>
                  <a:pt x="177800" y="311150"/>
                </a:cubicBezTo>
                <a:cubicBezTo>
                  <a:pt x="251398" y="311150"/>
                  <a:pt x="311150" y="251398"/>
                  <a:pt x="311150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77800" y="233363"/>
                </a:moveTo>
                <a:cubicBezTo>
                  <a:pt x="208466" y="233363"/>
                  <a:pt x="233363" y="208466"/>
                  <a:pt x="233363" y="177800"/>
                </a:cubicBezTo>
                <a:cubicBezTo>
                  <a:pt x="233363" y="147134"/>
                  <a:pt x="208466" y="122238"/>
                  <a:pt x="177800" y="122238"/>
                </a:cubicBezTo>
                <a:cubicBezTo>
                  <a:pt x="147134" y="122238"/>
                  <a:pt x="122238" y="147134"/>
                  <a:pt x="122238" y="177800"/>
                </a:cubicBezTo>
                <a:cubicBezTo>
                  <a:pt x="122238" y="208466"/>
                  <a:pt x="147134" y="233363"/>
                  <a:pt x="177800" y="233363"/>
                </a:cubicBezTo>
                <a:close/>
                <a:moveTo>
                  <a:pt x="177800" y="77788"/>
                </a:moveTo>
                <a:cubicBezTo>
                  <a:pt x="232998" y="77788"/>
                  <a:pt x="277813" y="122602"/>
                  <a:pt x="277813" y="177800"/>
                </a:cubicBezTo>
                <a:cubicBezTo>
                  <a:pt x="277813" y="232998"/>
                  <a:pt x="232998" y="277813"/>
                  <a:pt x="177800" y="277813"/>
                </a:cubicBezTo>
                <a:cubicBezTo>
                  <a:pt x="122602" y="277813"/>
                  <a:pt x="77788" y="232998"/>
                  <a:pt x="77788" y="177800"/>
                </a:cubicBezTo>
                <a:cubicBezTo>
                  <a:pt x="77788" y="122602"/>
                  <a:pt x="122602" y="77788"/>
                  <a:pt x="177800" y="77788"/>
                </a:cubicBezTo>
                <a:close/>
                <a:moveTo>
                  <a:pt x="155575" y="177800"/>
                </a:moveTo>
                <a:cubicBezTo>
                  <a:pt x="155575" y="165534"/>
                  <a:pt x="165534" y="155575"/>
                  <a:pt x="177800" y="155575"/>
                </a:cubicBezTo>
                <a:cubicBezTo>
                  <a:pt x="190066" y="155575"/>
                  <a:pt x="200025" y="165534"/>
                  <a:pt x="200025" y="177800"/>
                </a:cubicBezTo>
                <a:cubicBezTo>
                  <a:pt x="200025" y="190066"/>
                  <a:pt x="190066" y="200025"/>
                  <a:pt x="177800" y="200025"/>
                </a:cubicBezTo>
                <a:cubicBezTo>
                  <a:pt x="165534" y="200025"/>
                  <a:pt x="155575" y="190066"/>
                  <a:pt x="155575" y="177800"/>
                </a:cubicBezTo>
                <a:close/>
              </a:path>
            </a:pathLst>
          </a:custGeom>
          <a:solidFill>
            <a:srgbClr val="00C9A7"/>
          </a:solidFill>
        </p:spPr>
      </p:sp>
      <p:sp>
        <p:nvSpPr>
          <p:cNvPr id="7" name="Text 4"/>
          <p:cNvSpPr/>
          <p:nvPr/>
        </p:nvSpPr>
        <p:spPr>
          <a:xfrm>
            <a:off x="1524000" y="17526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需求真实，场景明确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24000" y="2184400"/>
            <a:ext cx="6096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面向有害藻华早发现、水产养殖减损、水源安全等真实痛点，五类目标客户应用场景清晰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60450" y="3175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00C9A7"/>
          </a:solidFill>
        </p:spPr>
      </p:sp>
      <p:sp>
        <p:nvSpPr>
          <p:cNvPr id="10" name="Text 7"/>
          <p:cNvSpPr/>
          <p:nvPr/>
        </p:nvSpPr>
        <p:spPr>
          <a:xfrm>
            <a:off x="1524000" y="31496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光电特色突出，技术链路完整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24000" y="3581400"/>
            <a:ext cx="6096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融合水下偏振显微成像、RDN图像增强与YOLO智能识别，形成完整"采集-重建-增强-识别"技术流程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16000" y="457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444" y="133350"/>
                </a:moveTo>
                <a:lnTo>
                  <a:pt x="338931" y="133350"/>
                </a:lnTo>
                <a:cubicBezTo>
                  <a:pt x="348169" y="133350"/>
                  <a:pt x="355600" y="125919"/>
                  <a:pt x="355600" y="116681"/>
                </a:cubicBezTo>
                <a:lnTo>
                  <a:pt x="355600" y="16669"/>
                </a:lnTo>
                <a:cubicBezTo>
                  <a:pt x="355600" y="9932"/>
                  <a:pt x="351572" y="3820"/>
                  <a:pt x="345321" y="1250"/>
                </a:cubicBezTo>
                <a:cubicBezTo>
                  <a:pt x="339070" y="-1320"/>
                  <a:pt x="331916" y="139"/>
                  <a:pt x="327124" y="4862"/>
                </a:cubicBezTo>
                <a:lnTo>
                  <a:pt x="291217" y="40838"/>
                </a:lnTo>
                <a:cubicBezTo>
                  <a:pt x="260449" y="15349"/>
                  <a:pt x="220861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ubicBezTo>
                  <a:pt x="55007" y="94109"/>
                  <a:pt x="110639" y="44450"/>
                  <a:pt x="177800" y="44450"/>
                </a:cubicBezTo>
                <a:cubicBezTo>
                  <a:pt x="208637" y="44450"/>
                  <a:pt x="236974" y="54868"/>
                  <a:pt x="259546" y="72440"/>
                </a:cubicBezTo>
                <a:lnTo>
                  <a:pt x="227112" y="104874"/>
                </a:lnTo>
                <a:cubicBezTo>
                  <a:pt x="222319" y="109666"/>
                  <a:pt x="220930" y="116820"/>
                  <a:pt x="223500" y="123071"/>
                </a:cubicBezTo>
                <a:cubicBezTo>
                  <a:pt x="226070" y="129322"/>
                  <a:pt x="232182" y="133350"/>
                  <a:pt x="238919" y="133350"/>
                </a:cubicBezTo>
                <a:lnTo>
                  <a:pt x="333444" y="133350"/>
                </a:lnTo>
                <a:close/>
                <a:moveTo>
                  <a:pt x="353864" y="203150"/>
                </a:moveTo>
                <a:cubicBezTo>
                  <a:pt x="355600" y="190996"/>
                  <a:pt x="347127" y="179745"/>
                  <a:pt x="335042" y="178008"/>
                </a:cubicBezTo>
                <a:cubicBezTo>
                  <a:pt x="322957" y="176272"/>
                  <a:pt x="311636" y="184745"/>
                  <a:pt x="309900" y="196830"/>
                </a:cubicBezTo>
                <a:cubicBezTo>
                  <a:pt x="300663" y="261422"/>
                  <a:pt x="245031" y="311081"/>
                  <a:pt x="177869" y="311081"/>
                </a:cubicBezTo>
                <a:cubicBezTo>
                  <a:pt x="147032" y="311081"/>
                  <a:pt x="118695" y="300663"/>
                  <a:pt x="96123" y="283091"/>
                </a:cubicBezTo>
                <a:lnTo>
                  <a:pt x="128488" y="250726"/>
                </a:lnTo>
                <a:cubicBezTo>
                  <a:pt x="133281" y="245934"/>
                  <a:pt x="134670" y="238780"/>
                  <a:pt x="132100" y="232529"/>
                </a:cubicBezTo>
                <a:cubicBezTo>
                  <a:pt x="129530" y="226278"/>
                  <a:pt x="123418" y="222250"/>
                  <a:pt x="116681" y="222250"/>
                </a:cubicBezTo>
                <a:lnTo>
                  <a:pt x="16669" y="222250"/>
                </a:lnTo>
                <a:cubicBezTo>
                  <a:pt x="7431" y="222250"/>
                  <a:pt x="0" y="229681"/>
                  <a:pt x="0" y="238919"/>
                </a:cubicBezTo>
                <a:lnTo>
                  <a:pt x="0" y="338931"/>
                </a:lnTo>
                <a:cubicBezTo>
                  <a:pt x="0" y="345668"/>
                  <a:pt x="4028" y="351780"/>
                  <a:pt x="10279" y="354350"/>
                </a:cubicBezTo>
                <a:cubicBezTo>
                  <a:pt x="16530" y="356920"/>
                  <a:pt x="23684" y="355461"/>
                  <a:pt x="28476" y="350738"/>
                </a:cubicBezTo>
                <a:lnTo>
                  <a:pt x="64453" y="314762"/>
                </a:lnTo>
                <a:cubicBezTo>
                  <a:pt x="95151" y="340251"/>
                  <a:pt x="134739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00C9A7"/>
          </a:solidFill>
        </p:spPr>
      </p:sp>
      <p:sp>
        <p:nvSpPr>
          <p:cNvPr id="13" name="Text 10"/>
          <p:cNvSpPr/>
          <p:nvPr/>
        </p:nvSpPr>
        <p:spPr>
          <a:xfrm>
            <a:off x="1524000" y="45466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数据可决策，系统可迭代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524000" y="4978400"/>
            <a:ext cx="6096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不仅输出图像，更输出类别、数量、趋势和预警；通过数据闭环持续优化，系统越用越准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382000" y="1778000"/>
            <a:ext cx="12700" cy="4064000"/>
          </a:xfrm>
          <a:prstGeom prst="rect">
            <a:avLst/>
          </a:prstGeom>
          <a:solidFill>
            <a:srgbClr val="3A7CA5">
              <a:alpha val="25098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8890000" y="17780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核心指标一览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890000" y="2362200"/>
            <a:ext cx="3048000" cy="111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~0.7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平均识别准确率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192000" y="2362200"/>
            <a:ext cx="3048000" cy="111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300/30s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实时处理速度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890000" y="3556000"/>
            <a:ext cx="3048000" cy="111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1.6万起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样机成本/套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2192000" y="3556000"/>
            <a:ext cx="3048000" cy="111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700万+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五年累计净收益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890000" y="4826000"/>
            <a:ext cx="6350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看得清 · 识得准 · 预警早 · 用得起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为基层水生态监测提供光电特色的新方案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62000" y="8788400"/>
            <a:ext cx="14732000" cy="12700"/>
          </a:xfrm>
          <a:prstGeom prst="rect">
            <a:avLst/>
          </a:prstGeom>
          <a:solidFill>
            <a:srgbClr val="3A7CA5">
              <a:alpha val="31373"/>
            </a:srgbClr>
          </a:solidFill>
        </p:spPr>
      </p:sp>
      <p:sp>
        <p:nvSpPr>
          <p:cNvPr id="23" name="Text 20"/>
          <p:cNvSpPr/>
          <p:nvPr/>
        </p:nvSpPr>
        <p:spPr>
          <a:xfrm>
            <a:off x="14732000" y="88392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3A7CA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hl54qt7z4deq/mnt/agents/output/zaoyingzhiwei/images/bg_reference.png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71A33">
                  <a:alpha val="13000"/>
                </a:srgbClr>
              </a:gs>
              <a:gs pos="40000">
                <a:srgbClr val="071A33">
                  <a:alpha val="75000"/>
                </a:srgbClr>
              </a:gs>
              <a:gs pos="100000">
                <a:srgbClr val="071A33">
                  <a:alpha val="94000"/>
                </a:srgbClr>
              </a:gs>
            </a:gsLst>
            <a:lin ang="5400000" scaled="1"/>
          </a:gradFill>
        </p:spPr>
      </p:sp>
      <p:sp>
        <p:nvSpPr>
          <p:cNvPr id="4" name="Shape 1"/>
          <p:cNvSpPr/>
          <p:nvPr/>
        </p:nvSpPr>
        <p:spPr>
          <a:xfrm>
            <a:off x="7175500" y="3048000"/>
            <a:ext cx="1905000" cy="5080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5" name="Text 2"/>
          <p:cNvSpPr/>
          <p:nvPr/>
        </p:nvSpPr>
        <p:spPr>
          <a:xfrm>
            <a:off x="3048000" y="3429000"/>
            <a:ext cx="1016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感谢聆听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048000" y="4381500"/>
            <a:ext cx="1016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56471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藻影知微——让水下的世界清晰可见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175500" y="5080000"/>
            <a:ext cx="1905000" cy="50800"/>
          </a:xfrm>
          <a:prstGeom prst="rect">
            <a:avLst/>
          </a:prstGeom>
          <a:solidFill>
            <a:srgbClr val="00C9A7"/>
          </a:solidFill>
        </p:spPr>
      </p:sp>
      <p:sp>
        <p:nvSpPr>
          <p:cNvPr id="8" name="Text 5"/>
          <p:cNvSpPr/>
          <p:nvPr/>
        </p:nvSpPr>
        <p:spPr>
          <a:xfrm>
            <a:off x="4318000" y="55880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0C9A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欢迎评委老师提问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18000" y="7112000"/>
            <a:ext cx="762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3764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第十四届全国大学生光电设计竞赛（华北区赛）· 创意组 · 藻影知微队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4748</Words>
  <Application>WPS 演示</Application>
  <PresentationFormat>On-screen Show (16:9)</PresentationFormat>
  <Paragraphs>636</Paragraphs>
  <Slides>23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9" baseType="lpstr">
      <vt:lpstr>Arial</vt:lpstr>
      <vt:lpstr>宋体</vt:lpstr>
      <vt:lpstr>Wingdings</vt:lpstr>
      <vt:lpstr>Liter</vt:lpstr>
      <vt:lpstr>Liter</vt:lpstr>
      <vt:lpstr>Liter</vt:lpstr>
      <vt:lpstr>Cambria Math</vt:lpstr>
      <vt:lpstr>Calibri</vt:lpstr>
      <vt:lpstr>微软雅黑</vt:lpstr>
      <vt:lpstr>Arial Unicode MS</vt:lpstr>
      <vt:lpstr>等线</vt:lpstr>
      <vt:lpstr>Arial</vt:lpstr>
      <vt:lpstr>BatangChe</vt:lpstr>
      <vt:lpstr>Leelawadee UI Semilight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藻影知微——水下偏振原位智能成像系统</dc:title>
  <dc:creator>Kimi</dc:creator>
  <dc:subject>藻影知微——水下偏振原位智能成像系统</dc:subject>
  <cp:lastModifiedBy>张润田</cp:lastModifiedBy>
  <cp:revision>5</cp:revision>
  <dcterms:created xsi:type="dcterms:W3CDTF">2026-05-22T12:51:00Z</dcterms:created>
  <dcterms:modified xsi:type="dcterms:W3CDTF">2026-05-22T15:38:30Z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藻影知微——水下偏振原位智能成像系统","ContentProducer":"001191110108MACG2KBH8F10000","ProduceID":"19e4f9cc-b642-8353-8000-0000252d0cfe","ReservedCode1":"","ContentPropagator":"001191110108MACG2KBH8F20000","PropagateID":"19e4f9cc-b642-8353-8000-0000252d0cfe","ReservedCode2":""}</vt:lpwstr>
  </property>
  <property fmtid="{D5CDD505-2E9C-101B-9397-08002B2CF9AE}" pid="3" name="KSOProductBuildVer">
    <vt:lpwstr>2052-12.1.0.25865</vt:lpwstr>
  </property>
  <property fmtid="{D5CDD505-2E9C-101B-9397-08002B2CF9AE}" pid="4" name="ICV">
    <vt:lpwstr>810C7CCBA7A54AF7A5576C9EC45B9FEC_12</vt:lpwstr>
  </property>
</Properties>
</file>